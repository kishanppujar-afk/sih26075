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8" d="100"/>
          <a:sy n="98" d="100"/>
        </p:scale>
        <p:origin x="82" y="86"/>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9/29/2026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9/29/2026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9/29/2026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9/29/2026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9/29/2026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9/29/2026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9/29/2026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9/29/2026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9/29/2026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9/29/2026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9/29/2026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9/29/2026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9/29/2026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pPr>
              <a:defRPr sz="3600" b="1">
                <a:solidFill>
                  <a:srgbClr val="E65100"/>
                </a:solidFill>
                <a:latin typeface="Arial"/>
              </a:defRPr>
            </a:pPr>
            <a:r>
              <a:t>SkillStat AI</a:t>
            </a:r>
            <a:endParaRPr lang="en-US" b="1" dirty="0">
              <a:solidFill>
                <a:schemeClr val="tx1"/>
              </a:solidFill>
              <a:latin typeface="Times New Roman" panose="02020603050405020304" pitchFamily="18" charset="0"/>
              <a:cs typeface="Times New Roman" panose="02020603050405020304" pitchFamily="18" charset="0"/>
            </a:endParaRPr>
          </a:p>
          <a:p>
            <a:pPr>
              <a:defRPr sz="1300" b="1">
                <a:solidFill>
                  <a:srgbClr val="334155"/>
                </a:solidFill>
                <a:latin typeface="Arial"/>
              </a:defRPr>
            </a:pPr>
            <a:r>
              <a:t>Autonomous Competency Intelligence, Personalized Learning &amp; Sovereign RAG Quiz Studio</a:t>
            </a: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pPr>
              <a:spcAft>
                <a:spcPts val="400"/>
              </a:spcAft>
            </a:pPr>
            <a:r>
              <a:rPr sz="1050" b="1">
                <a:solidFill>
                  <a:srgbClr val="0F172A"/>
                </a:solidFill>
                <a:latin typeface="Arial"/>
              </a:rPr>
              <a:t>Problem Statement ID: </a:t>
            </a:r>
            <a:r>
              <a:rPr sz="1000">
                <a:solidFill>
                  <a:srgbClr val="334155"/>
                </a:solidFill>
                <a:latin typeface="Arial"/>
              </a:rPr>
              <a:t>26101</a:t>
            </a:r>
            <a:endParaRPr lang="en-US" dirty="0"/>
          </a:p>
          <a:p>
            <a:pPr>
              <a:spcAft>
                <a:spcPts val="400"/>
              </a:spcAft>
            </a:pPr>
            <a:r>
              <a:rPr sz="1050" b="1">
                <a:solidFill>
                  <a:srgbClr val="0F172A"/>
                </a:solidFill>
                <a:latin typeface="Arial"/>
              </a:rPr>
              <a:t>Problem Statement Title: </a:t>
            </a:r>
            <a:r>
              <a:rPr sz="1000">
                <a:solidFill>
                  <a:srgbClr val="334155"/>
                </a:solidFill>
                <a:latin typeface="Arial"/>
              </a:rPr>
              <a:t>Develop an AI enabled learning platform that identifies competency gaps, recommends personalized training through integration with the iGOT Karmayogi ecosystem, and capable of generating Quizzes and Multiple choice questions (MCQs) from uploaded learning materials to strengthen capacity building in India's Official Statistical System.</a:t>
            </a:r>
          </a:p>
          <a:p>
            <a:pPr>
              <a:spcAft>
                <a:spcPts val="400"/>
              </a:spcAft>
            </a:pPr>
            <a:r>
              <a:rPr sz="1050" b="1">
                <a:solidFill>
                  <a:srgbClr val="0F172A"/>
                </a:solidFill>
                <a:latin typeface="Arial"/>
              </a:rPr>
              <a:t>Theme: </a:t>
            </a:r>
            <a:r>
              <a:rPr sz="1000">
                <a:solidFill>
                  <a:srgbClr val="334155"/>
                </a:solidFill>
                <a:latin typeface="Arial"/>
              </a:rPr>
              <a:t>Smart Education / e-Governance</a:t>
            </a:r>
          </a:p>
          <a:p>
            <a:pPr>
              <a:spcAft>
                <a:spcPts val="400"/>
              </a:spcAft>
            </a:pPr>
            <a:r>
              <a:rPr sz="1050" b="1">
                <a:solidFill>
                  <a:srgbClr val="0F172A"/>
                </a:solidFill>
                <a:latin typeface="Arial"/>
              </a:rPr>
              <a:t>PS Category: </a:t>
            </a:r>
            <a:r>
              <a:rPr sz="1000">
                <a:solidFill>
                  <a:srgbClr val="334155"/>
                </a:solidFill>
                <a:latin typeface="Arial"/>
              </a:rPr>
              <a:t>Software</a:t>
            </a:r>
          </a:p>
          <a:p>
            <a:pPr>
              <a:spcAft>
                <a:spcPts val="400"/>
              </a:spcAft>
            </a:pPr>
            <a:r>
              <a:rPr sz="1050" b="1">
                <a:solidFill>
                  <a:srgbClr val="0F172A"/>
                </a:solidFill>
                <a:latin typeface="Arial"/>
              </a:rPr>
              <a:t>Target Ministry / Cadre: </a:t>
            </a:r>
            <a:r>
              <a:rPr sz="1000">
                <a:solidFill>
                  <a:srgbClr val="334155"/>
                </a:solidFill>
                <a:latin typeface="Arial"/>
              </a:rPr>
              <a:t>Ministry of Statistics &amp; Programme Implementation (MoSPI) / ISS &amp; SSS</a:t>
            </a:r>
          </a:p>
          <a:p>
            <a:pPr>
              <a:spcAft>
                <a:spcPts val="400"/>
              </a:spcAft>
            </a:pPr>
            <a:r>
              <a:rPr sz="1050" b="1">
                <a:solidFill>
                  <a:srgbClr val="0F172A"/>
                </a:solidFill>
                <a:latin typeface="Arial"/>
              </a:rPr>
              <a:t>Team ID: </a:t>
            </a:r>
            <a:r>
              <a:rPr sz="1000">
                <a:solidFill>
                  <a:srgbClr val="334155"/>
                </a:solidFill>
                <a:latin typeface="Arial"/>
              </a:rPr>
              <a:t>[Your Team ID]</a:t>
            </a:r>
          </a:p>
          <a:p>
            <a:pPr>
              <a:spcAft>
                <a:spcPts val="400"/>
              </a:spcAft>
            </a:pPr>
            <a:r>
              <a:rPr sz="1050" b="1">
                <a:solidFill>
                  <a:srgbClr val="0F172A"/>
                </a:solidFill>
                <a:latin typeface="Arial"/>
              </a:rPr>
              <a:t>Team Name: </a:t>
            </a:r>
            <a:r>
              <a:rPr sz="1000">
                <a:solidFill>
                  <a:srgbClr val="334155"/>
                </a:solidFill>
                <a:latin typeface="Arial"/>
              </a:rPr>
              <a:t>[Your Team Name]</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defRPr sz="2200" b="1">
                <a:solidFill>
                  <a:srgbClr val="0F172A"/>
                </a:solidFill>
                <a:latin typeface="Arial"/>
              </a:defRPr>
            </a:pPr>
            <a:r>
              <a:t>IDEA TITLE: SkillStat AI - Sovereign Competency Platform</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defRPr sz="850" b="1">
                <a:solidFill>
                  <a:srgbClr val="0F172A"/>
                </a:solidFill>
                <a:latin typeface="Arial"/>
              </a:defRPr>
            </a:pPr>
            <a:r>
              <a:t>[Team Name]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731520" y="960120"/>
            <a:ext cx="10728655" cy="320040"/>
          </a:xfrm>
          <a:prstGeom prst="rect">
            <a:avLst/>
          </a:prstGeom>
          <a:noFill/>
        </p:spPr>
        <p:txBody>
          <a:bodyPr wrap="none">
            <a:spAutoFit/>
          </a:bodyPr>
          <a:lstStyle/>
          <a:p>
            <a:pPr>
              <a:defRPr sz="1100" b="1">
                <a:solidFill>
                  <a:srgbClr val="E65100"/>
                </a:solidFill>
                <a:latin typeface="Arial"/>
              </a:defRPr>
            </a:pPr>
            <a:r>
              <a:t>Proposed Solution for India's Official Statistical System (MoSPI) | Autonomous Diagnostics, iGOT &amp; Local RAG</a:t>
            </a:r>
          </a:p>
        </p:txBody>
      </p:sp>
      <p:sp>
        <p:nvSpPr>
          <p:cNvPr id="15363" name="Rounded Rectangle 15362"/>
          <p:cNvSpPr/>
          <p:nvPr/>
        </p:nvSpPr>
        <p:spPr>
          <a:xfrm>
            <a:off x="731520" y="1325880"/>
            <a:ext cx="3429000" cy="48920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4" name="Rectangle 15363"/>
          <p:cNvSpPr/>
          <p:nvPr/>
        </p:nvSpPr>
        <p:spPr>
          <a:xfrm>
            <a:off x="868680" y="1463040"/>
            <a:ext cx="3154680" cy="36576"/>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5" name="TextBox 15364"/>
          <p:cNvSpPr txBox="1"/>
          <p:nvPr/>
        </p:nvSpPr>
        <p:spPr>
          <a:xfrm>
            <a:off x="914400" y="1554480"/>
            <a:ext cx="3063240" cy="4572000"/>
          </a:xfrm>
          <a:prstGeom prst="rect">
            <a:avLst/>
          </a:prstGeom>
          <a:noFill/>
        </p:spPr>
        <p:txBody>
          <a:bodyPr wrap="square" lIns="0" tIns="0" rIns="0" bIns="0">
            <a:spAutoFit/>
          </a:bodyPr>
          <a:lstStyle/>
          <a:p>
            <a:pPr>
              <a:spcAft>
                <a:spcPts val="200"/>
              </a:spcAft>
              <a:defRPr sz="1300" b="1">
                <a:solidFill>
                  <a:srgbClr val="0F172A"/>
                </a:solidFill>
                <a:latin typeface="Arial"/>
              </a:defRPr>
            </a:pPr>
            <a:r>
              <a:t>1. Detailed Explanation of Solution</a:t>
            </a:r>
          </a:p>
          <a:p>
            <a:pPr>
              <a:spcAft>
                <a:spcPts val="800"/>
              </a:spcAft>
              <a:defRPr sz="950" b="1">
                <a:solidFill>
                  <a:srgbClr val="E65100"/>
                </a:solidFill>
                <a:latin typeface="Arial"/>
              </a:defRPr>
            </a:pPr>
            <a:r>
              <a:t>ARCHITECTURE &amp; DOMAINS</a:t>
            </a:r>
          </a:p>
          <a:p>
            <a:pPr>
              <a:spcAft>
                <a:spcPts val="500"/>
              </a:spcAft>
              <a:defRPr sz="1000">
                <a:latin typeface="Arial"/>
              </a:defRPr>
            </a:pPr>
            <a:r>
              <a:rPr b="1">
                <a:solidFill>
                  <a:srgbClr val="E65100"/>
                </a:solidFill>
              </a:rPr>
              <a:t>• </a:t>
            </a:r>
            <a:r>
              <a:rPr b="1">
                <a:solidFill>
                  <a:srgbClr val="0F172A"/>
                </a:solidFill>
              </a:rPr>
              <a:t>3-Tier Persona Architecture: </a:t>
            </a:r>
            <a:r>
              <a:rPr b="0">
                <a:solidFill>
                  <a:srgbClr val="334155"/>
                </a:solidFill>
              </a:rPr>
              <a:t>Role-tailored dashboards for Field Statistical Officers (SSO/JSO), Supervisory Managers, and Cadre Administrators.</a:t>
            </a:r>
          </a:p>
          <a:p>
            <a:pPr>
              <a:spcAft>
                <a:spcPts val="500"/>
              </a:spcAft>
              <a:defRPr sz="1000">
                <a:latin typeface="Arial"/>
              </a:defRPr>
            </a:pPr>
            <a:r>
              <a:rPr b="1">
                <a:solidFill>
                  <a:srgbClr val="E65100"/>
                </a:solidFill>
              </a:rPr>
              <a:t>• </a:t>
            </a:r>
            <a:r>
              <a:rPr b="1">
                <a:solidFill>
                  <a:srgbClr val="0F172A"/>
                </a:solidFill>
              </a:rPr>
              <a:t>4-Domain Competency Engine: </a:t>
            </a:r>
            <a:r>
              <a:rPr b="0">
                <a:solidFill>
                  <a:srgbClr val="334155"/>
                </a:solidFill>
              </a:rPr>
              <a:t>Evaluates National Accounts, Survey Methodologies, Official Statistics Act 2007, and Data Analytics.</a:t>
            </a:r>
          </a:p>
          <a:p>
            <a:pPr>
              <a:spcAft>
                <a:spcPts val="500"/>
              </a:spcAft>
              <a:defRPr sz="1000">
                <a:latin typeface="Arial"/>
              </a:defRPr>
            </a:pPr>
            <a:r>
              <a:rPr b="1">
                <a:solidFill>
                  <a:srgbClr val="E65100"/>
                </a:solidFill>
              </a:rPr>
              <a:t>• </a:t>
            </a:r>
            <a:r>
              <a:rPr b="1">
                <a:solidFill>
                  <a:srgbClr val="0F172A"/>
                </a:solidFill>
              </a:rPr>
              <a:t>Calibrated Diagnostics: </a:t>
            </a:r>
            <a:r>
              <a:rPr b="0">
                <a:solidFill>
                  <a:srgbClr val="334155"/>
                </a:solidFill>
              </a:rPr>
              <a:t>Score-distortion safeguard caps single-question contributions at 80%; requires 2+ questions for 100% mastery.</a:t>
            </a:r>
          </a:p>
          <a:p>
            <a:pPr>
              <a:spcAft>
                <a:spcPts val="500"/>
              </a:spcAft>
              <a:defRPr sz="1000">
                <a:latin typeface="Arial"/>
              </a:defRPr>
            </a:pPr>
            <a:r>
              <a:rPr b="1">
                <a:solidFill>
                  <a:srgbClr val="E65100"/>
                </a:solidFill>
              </a:rPr>
              <a:t>• </a:t>
            </a:r>
            <a:r>
              <a:rPr b="1">
                <a:solidFill>
                  <a:srgbClr val="0F172A"/>
                </a:solidFill>
              </a:rPr>
              <a:t>Disha AI Assistant: </a:t>
            </a:r>
            <a:r>
              <a:rPr b="0">
                <a:solidFill>
                  <a:srgbClr val="334155"/>
                </a:solidFill>
              </a:rPr>
              <a:t>Empathetic, gap-aware conversational mentor guiding officers with contextual study tips and career pathways.</a:t>
            </a:r>
          </a:p>
        </p:txBody>
      </p:sp>
      <p:sp>
        <p:nvSpPr>
          <p:cNvPr id="15366" name="Rounded Rectangle 15365"/>
          <p:cNvSpPr/>
          <p:nvPr/>
        </p:nvSpPr>
        <p:spPr>
          <a:xfrm>
            <a:off x="4379976" y="1325880"/>
            <a:ext cx="3429000" cy="48920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7" name="Rectangle 15366"/>
          <p:cNvSpPr/>
          <p:nvPr/>
        </p:nvSpPr>
        <p:spPr>
          <a:xfrm>
            <a:off x="4517136" y="1463040"/>
            <a:ext cx="3154680" cy="36576"/>
          </a:xfrm>
          <a:prstGeom prst="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8" name="TextBox 15367"/>
          <p:cNvSpPr txBox="1"/>
          <p:nvPr/>
        </p:nvSpPr>
        <p:spPr>
          <a:xfrm>
            <a:off x="4562856" y="1554480"/>
            <a:ext cx="3063240" cy="4572000"/>
          </a:xfrm>
          <a:prstGeom prst="rect">
            <a:avLst/>
          </a:prstGeom>
          <a:noFill/>
        </p:spPr>
        <p:txBody>
          <a:bodyPr wrap="square" lIns="0" tIns="0" rIns="0" bIns="0">
            <a:spAutoFit/>
          </a:bodyPr>
          <a:lstStyle/>
          <a:p>
            <a:pPr>
              <a:spcAft>
                <a:spcPts val="200"/>
              </a:spcAft>
              <a:defRPr sz="1300" b="1">
                <a:solidFill>
                  <a:srgbClr val="0F172A"/>
                </a:solidFill>
                <a:latin typeface="Arial"/>
              </a:defRPr>
            </a:pPr>
            <a:r>
              <a:t>2. How It Addresses The Problem</a:t>
            </a:r>
          </a:p>
          <a:p>
            <a:pPr>
              <a:spcAft>
                <a:spcPts val="800"/>
              </a:spcAft>
              <a:defRPr sz="950" b="1">
                <a:solidFill>
                  <a:srgbClr val="107C41"/>
                </a:solidFill>
                <a:latin typeface="Arial"/>
              </a:defRPr>
            </a:pPr>
            <a:r>
              <a:t>BRIDGING PS 26101 DEFICITS</a:t>
            </a:r>
          </a:p>
          <a:p>
            <a:pPr>
              <a:spcAft>
                <a:spcPts val="500"/>
              </a:spcAft>
              <a:defRPr sz="1000">
                <a:latin typeface="Arial"/>
              </a:defRPr>
            </a:pPr>
            <a:r>
              <a:rPr b="1">
                <a:solidFill>
                  <a:srgbClr val="107C41"/>
                </a:solidFill>
              </a:rPr>
              <a:t>• </a:t>
            </a:r>
            <a:r>
              <a:rPr b="1">
                <a:solidFill>
                  <a:srgbClr val="0F172A"/>
                </a:solidFill>
              </a:rPr>
              <a:t>Real-Time Deficit Scoring: </a:t>
            </a:r>
            <a:r>
              <a:rPr b="0">
                <a:solidFill>
                  <a:srgbClr val="334155"/>
                </a:solidFill>
              </a:rPr>
              <a:t>Replaces manual annual appraisals with quantitative radar gap metrics across all 4 statistical domains.</a:t>
            </a:r>
          </a:p>
          <a:p>
            <a:pPr>
              <a:spcAft>
                <a:spcPts val="500"/>
              </a:spcAft>
              <a:defRPr sz="1000">
                <a:latin typeface="Arial"/>
              </a:defRPr>
            </a:pPr>
            <a:r>
              <a:rPr b="1">
                <a:solidFill>
                  <a:srgbClr val="107C41"/>
                </a:solidFill>
              </a:rPr>
              <a:t>• </a:t>
            </a:r>
            <a:r>
              <a:rPr b="1">
                <a:solidFill>
                  <a:srgbClr val="0F172A"/>
                </a:solidFill>
              </a:rPr>
              <a:t>iGOT Karmayogi Deep Mapping: </a:t>
            </a:r>
            <a:r>
              <a:rPr b="0">
                <a:solidFill>
                  <a:srgbClr val="334155"/>
                </a:solidFill>
              </a:rPr>
              <a:t>Integrated adapter automatically maps micro-deficits to 53 NSSTA/MoSPI courses with 1-click enrollment.</a:t>
            </a:r>
          </a:p>
          <a:p>
            <a:pPr>
              <a:spcAft>
                <a:spcPts val="500"/>
              </a:spcAft>
              <a:defRPr sz="1000">
                <a:latin typeface="Arial"/>
              </a:defRPr>
            </a:pPr>
            <a:r>
              <a:rPr b="1">
                <a:solidFill>
                  <a:srgbClr val="107C41"/>
                </a:solidFill>
              </a:rPr>
              <a:t>• </a:t>
            </a:r>
            <a:r>
              <a:rPr b="1">
                <a:solidFill>
                  <a:srgbClr val="0F172A"/>
                </a:solidFill>
              </a:rPr>
              <a:t>Local Document-to-Quiz Studio: </a:t>
            </a:r>
            <a:r>
              <a:rPr b="0">
                <a:solidFill>
                  <a:srgbClr val="334155"/>
                </a:solidFill>
              </a:rPr>
              <a:t>Ingests official statistical manuals &amp; circulars; extracts semantic chunks and generates verifiable MCQs in seconds.</a:t>
            </a:r>
          </a:p>
          <a:p>
            <a:pPr>
              <a:spcAft>
                <a:spcPts val="500"/>
              </a:spcAft>
              <a:defRPr sz="1000">
                <a:latin typeface="Arial"/>
              </a:defRPr>
            </a:pPr>
            <a:r>
              <a:rPr b="1">
                <a:solidFill>
                  <a:srgbClr val="107C41"/>
                </a:solidFill>
              </a:rPr>
              <a:t>• </a:t>
            </a:r>
            <a:r>
              <a:rPr b="1">
                <a:solidFill>
                  <a:srgbClr val="0F172A"/>
                </a:solidFill>
              </a:rPr>
              <a:t>Cadre-Wide Telemetry: </a:t>
            </a:r>
            <a:r>
              <a:rPr b="0">
                <a:solidFill>
                  <a:srgbClr val="334155"/>
                </a:solidFill>
              </a:rPr>
              <a:t>Provides leadership with macro readiness heatmaps across MoSPI divisions (NAD, FOD, ESD, CPD).</a:t>
            </a:r>
          </a:p>
        </p:txBody>
      </p:sp>
      <p:sp>
        <p:nvSpPr>
          <p:cNvPr id="15369" name="Rounded Rectangle 15368"/>
          <p:cNvSpPr/>
          <p:nvPr/>
        </p:nvSpPr>
        <p:spPr>
          <a:xfrm>
            <a:off x="8028431" y="1325880"/>
            <a:ext cx="3429000" cy="48920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0" name="Rectangle 15369"/>
          <p:cNvSpPr/>
          <p:nvPr/>
        </p:nvSpPr>
        <p:spPr>
          <a:xfrm>
            <a:off x="8165591" y="1463040"/>
            <a:ext cx="3154680" cy="36576"/>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1" name="TextBox 15370"/>
          <p:cNvSpPr txBox="1"/>
          <p:nvPr/>
        </p:nvSpPr>
        <p:spPr>
          <a:xfrm>
            <a:off x="8211311" y="1554480"/>
            <a:ext cx="3063240" cy="4572000"/>
          </a:xfrm>
          <a:prstGeom prst="rect">
            <a:avLst/>
          </a:prstGeom>
          <a:noFill/>
        </p:spPr>
        <p:txBody>
          <a:bodyPr wrap="square" lIns="0" tIns="0" rIns="0" bIns="0">
            <a:spAutoFit/>
          </a:bodyPr>
          <a:lstStyle/>
          <a:p>
            <a:pPr>
              <a:spcAft>
                <a:spcPts val="200"/>
              </a:spcAft>
              <a:defRPr sz="1300" b="1">
                <a:solidFill>
                  <a:srgbClr val="0F172A"/>
                </a:solidFill>
                <a:latin typeface="Arial"/>
              </a:defRPr>
            </a:pPr>
            <a:r>
              <a:t>3. Innovation &amp; Uniqueness</a:t>
            </a:r>
          </a:p>
          <a:p>
            <a:pPr>
              <a:spcAft>
                <a:spcPts val="800"/>
              </a:spcAft>
              <a:defRPr sz="950" b="1">
                <a:solidFill>
                  <a:srgbClr val="0F172A"/>
                </a:solidFill>
                <a:latin typeface="Arial"/>
              </a:defRPr>
            </a:pPr>
            <a:r>
              <a:t>SOVEREIGNTY &amp; CALIBRATION</a:t>
            </a:r>
          </a:p>
          <a:p>
            <a:pPr>
              <a:spcAft>
                <a:spcPts val="500"/>
              </a:spcAft>
              <a:defRPr sz="1000">
                <a:latin typeface="Arial"/>
              </a:defRPr>
            </a:pPr>
            <a:r>
              <a:rPr b="1">
                <a:solidFill>
                  <a:srgbClr val="0F172A"/>
                </a:solidFill>
              </a:rPr>
              <a:t>• </a:t>
            </a:r>
            <a:r>
              <a:rPr b="1">
                <a:solidFill>
                  <a:srgbClr val="0F172A"/>
                </a:solidFill>
              </a:rPr>
              <a:t>100% Data Sovereignty: </a:t>
            </a:r>
            <a:r>
              <a:rPr b="0">
                <a:solidFill>
                  <a:srgbClr val="334155"/>
                </a:solidFill>
              </a:rPr>
              <a:t>Local LLM runtime (Ollama gemma3:4b + nomic-embed-text) ensures sensitive government data never leaves premises.</a:t>
            </a:r>
          </a:p>
          <a:p>
            <a:pPr>
              <a:spcAft>
                <a:spcPts val="500"/>
              </a:spcAft>
              <a:defRPr sz="1000">
                <a:latin typeface="Arial"/>
              </a:defRPr>
            </a:pPr>
            <a:r>
              <a:rPr b="1">
                <a:solidFill>
                  <a:srgbClr val="0F172A"/>
                </a:solidFill>
              </a:rPr>
              <a:t>• </a:t>
            </a:r>
            <a:r>
              <a:rPr b="1">
                <a:solidFill>
                  <a:srgbClr val="0F172A"/>
                </a:solidFill>
              </a:rPr>
              <a:t>Verifiable Source Citations: </a:t>
            </a:r>
            <a:r>
              <a:rPr b="0">
                <a:solidFill>
                  <a:srgbClr val="334155"/>
                </a:solidFill>
              </a:rPr>
              <a:t>Every generated MCQ cites the exact document snippet to completely eliminate hallucinations.</a:t>
            </a:r>
          </a:p>
          <a:p>
            <a:pPr>
              <a:spcAft>
                <a:spcPts val="500"/>
              </a:spcAft>
              <a:defRPr sz="1000">
                <a:latin typeface="Arial"/>
              </a:defRPr>
            </a:pPr>
            <a:r>
              <a:rPr b="1">
                <a:solidFill>
                  <a:srgbClr val="0F172A"/>
                </a:solidFill>
              </a:rPr>
              <a:t>• </a:t>
            </a:r>
            <a:r>
              <a:rPr b="1">
                <a:solidFill>
                  <a:srgbClr val="0F172A"/>
                </a:solidFill>
              </a:rPr>
              <a:t>Pedagogical Angle Cycling: </a:t>
            </a:r>
            <a:r>
              <a:rPr b="0">
                <a:solidFill>
                  <a:srgbClr val="334155"/>
                </a:solidFill>
              </a:rPr>
              <a:t>Deterministically rotates 5 angles (Definition, Calculation, Exception, Policy, Edge-Case) to prevent duplicates.</a:t>
            </a:r>
          </a:p>
          <a:p>
            <a:pPr>
              <a:spcAft>
                <a:spcPts val="500"/>
              </a:spcAft>
              <a:defRPr sz="1000">
                <a:latin typeface="Arial"/>
              </a:defRPr>
            </a:pPr>
            <a:r>
              <a:rPr b="1">
                <a:solidFill>
                  <a:srgbClr val="0F172A"/>
                </a:solidFill>
              </a:rPr>
              <a:t>• </a:t>
            </a:r>
            <a:r>
              <a:rPr b="1">
                <a:solidFill>
                  <a:srgbClr val="0F172A"/>
                </a:solidFill>
              </a:rPr>
              <a:t>Isolated Practice Sandbox: </a:t>
            </a:r>
            <a:r>
              <a:rPr b="0">
                <a:solidFill>
                  <a:srgbClr val="334155"/>
                </a:solidFill>
              </a:rPr>
              <a:t>Practice quiz submissions are quarantined (is_practice=True) to strictly protect official readiness scores.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defRPr sz="2200" b="1">
                <a:solidFill>
                  <a:srgbClr val="0F172A"/>
                </a:solidFill>
                <a:latin typeface="Arial"/>
              </a:defRPr>
            </a:pPr>
            <a: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defRPr sz="850" b="1">
                <a:solidFill>
                  <a:srgbClr val="0F172A"/>
                </a:solidFill>
                <a:latin typeface="Arial"/>
              </a:defRPr>
            </a:pPr>
            <a:r>
              <a:t>[Team Name]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731520" y="960120"/>
            <a:ext cx="10728655" cy="320040"/>
          </a:xfrm>
          <a:prstGeom prst="rect">
            <a:avLst/>
          </a:prstGeom>
          <a:noFill/>
        </p:spPr>
        <p:txBody>
          <a:bodyPr wrap="none">
            <a:spAutoFit/>
          </a:bodyPr>
          <a:lstStyle/>
          <a:p>
            <a:pPr>
              <a:defRPr sz="1100" b="1">
                <a:solidFill>
                  <a:srgbClr val="E65100"/>
                </a:solidFill>
                <a:latin typeface="Arial"/>
              </a:defRPr>
            </a:pPr>
            <a:r>
              <a:t>Open-Source Sovereign Architecture, RAG Semantic Vector Retrieval &amp; End-to-End Pipeline</a:t>
            </a:r>
          </a:p>
        </p:txBody>
      </p:sp>
      <p:sp>
        <p:nvSpPr>
          <p:cNvPr id="17411" name="Rounded Rectangle 17410"/>
          <p:cNvSpPr/>
          <p:nvPr/>
        </p:nvSpPr>
        <p:spPr>
          <a:xfrm>
            <a:off x="731520" y="1325880"/>
            <a:ext cx="5166360" cy="48920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Rectangle 17411"/>
          <p:cNvSpPr/>
          <p:nvPr/>
        </p:nvSpPr>
        <p:spPr>
          <a:xfrm>
            <a:off x="868680" y="1463040"/>
            <a:ext cx="4892040" cy="36576"/>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3" name="TextBox 17412"/>
          <p:cNvSpPr txBox="1"/>
          <p:nvPr/>
        </p:nvSpPr>
        <p:spPr>
          <a:xfrm>
            <a:off x="914400" y="1554480"/>
            <a:ext cx="4800600" cy="4572000"/>
          </a:xfrm>
          <a:prstGeom prst="rect">
            <a:avLst/>
          </a:prstGeom>
          <a:noFill/>
        </p:spPr>
        <p:txBody>
          <a:bodyPr wrap="square" lIns="0" tIns="0" rIns="0" bIns="0">
            <a:spAutoFit/>
          </a:bodyPr>
          <a:lstStyle/>
          <a:p>
            <a:pPr>
              <a:spcAft>
                <a:spcPts val="200"/>
              </a:spcAft>
              <a:defRPr sz="1300" b="1">
                <a:solidFill>
                  <a:srgbClr val="0F172A"/>
                </a:solidFill>
                <a:latin typeface="Arial"/>
              </a:defRPr>
            </a:pPr>
            <a:r>
              <a:t>Technologies To Be Used</a:t>
            </a:r>
          </a:p>
          <a:p>
            <a:pPr>
              <a:spcAft>
                <a:spcPts val="800"/>
              </a:spcAft>
              <a:defRPr sz="950" b="1">
                <a:solidFill>
                  <a:srgbClr val="E65100"/>
                </a:solidFill>
                <a:latin typeface="Arial"/>
              </a:defRPr>
            </a:pPr>
            <a:r>
              <a:t>STACK SPECIFICATIONS</a:t>
            </a:r>
          </a:p>
          <a:p>
            <a:pPr>
              <a:spcAft>
                <a:spcPts val="500"/>
              </a:spcAft>
              <a:defRPr sz="1000">
                <a:latin typeface="Arial"/>
              </a:defRPr>
            </a:pPr>
            <a:r>
              <a:rPr b="1">
                <a:solidFill>
                  <a:srgbClr val="E65100"/>
                </a:solidFill>
              </a:rPr>
              <a:t>• </a:t>
            </a:r>
            <a:r>
              <a:rPr b="1">
                <a:solidFill>
                  <a:srgbClr val="0F172A"/>
                </a:solidFill>
              </a:rPr>
              <a:t>Modern Frontend Stack: </a:t>
            </a:r>
            <a:r>
              <a:rPr b="0">
                <a:solidFill>
                  <a:srgbClr val="334155"/>
                </a:solidFill>
              </a:rPr>
              <a:t>React 18/19, Vite, Tailwind CSS, Lucide Icons, Recharts (Radar charts, Competency Deficit Matrices).</a:t>
            </a:r>
          </a:p>
          <a:p>
            <a:pPr>
              <a:spcAft>
                <a:spcPts val="500"/>
              </a:spcAft>
              <a:defRPr sz="1000">
                <a:latin typeface="Arial"/>
              </a:defRPr>
            </a:pPr>
            <a:r>
              <a:rPr b="1">
                <a:solidFill>
                  <a:srgbClr val="E65100"/>
                </a:solidFill>
              </a:rPr>
              <a:t>• </a:t>
            </a:r>
            <a:r>
              <a:rPr b="1">
                <a:solidFill>
                  <a:srgbClr val="0F172A"/>
                </a:solidFill>
              </a:rPr>
              <a:t>Asynchronous Backend: </a:t>
            </a:r>
            <a:r>
              <a:rPr b="0">
                <a:solidFill>
                  <a:srgbClr val="334155"/>
                </a:solidFill>
              </a:rPr>
              <a:t>FastAPI (Python 3.12), SQLAlchemy 2.0 ORM, Pydantic v2 data contracts, SQLite / Enterprise PostgreSQL.</a:t>
            </a:r>
          </a:p>
          <a:p>
            <a:pPr>
              <a:spcAft>
                <a:spcPts val="500"/>
              </a:spcAft>
              <a:defRPr sz="1000">
                <a:latin typeface="Arial"/>
              </a:defRPr>
            </a:pPr>
            <a:r>
              <a:rPr b="1">
                <a:solidFill>
                  <a:srgbClr val="E65100"/>
                </a:solidFill>
              </a:rPr>
              <a:t>• </a:t>
            </a:r>
            <a:r>
              <a:rPr b="1">
                <a:solidFill>
                  <a:srgbClr val="0F172A"/>
                </a:solidFill>
              </a:rPr>
              <a:t>Sovereign AI Engine: </a:t>
            </a:r>
            <a:r>
              <a:rPr b="0">
                <a:solidFill>
                  <a:srgbClr val="334155"/>
                </a:solidFill>
              </a:rPr>
              <a:t>Ollama local daemon hosting gemma3:4b (LLM reasoning) and nomic-embed-text (768-dim embeddings).</a:t>
            </a:r>
          </a:p>
          <a:p>
            <a:pPr>
              <a:spcAft>
                <a:spcPts val="500"/>
              </a:spcAft>
              <a:defRPr sz="1000">
                <a:latin typeface="Arial"/>
              </a:defRPr>
            </a:pPr>
            <a:r>
              <a:rPr b="1">
                <a:solidFill>
                  <a:srgbClr val="E65100"/>
                </a:solidFill>
              </a:rPr>
              <a:t>• </a:t>
            </a:r>
            <a:r>
              <a:rPr b="1">
                <a:solidFill>
                  <a:srgbClr val="0F172A"/>
                </a:solidFill>
              </a:rPr>
              <a:t>Vector RAG Pipeline: </a:t>
            </a:r>
            <a:r>
              <a:rPr b="0">
                <a:solidFill>
                  <a:srgbClr val="334155"/>
                </a:solidFill>
              </a:rPr>
              <a:t>Sliding-window semantic chunker (500 chars, 100 overlap) with Cosine Similarity vector search.</a:t>
            </a:r>
          </a:p>
          <a:p>
            <a:pPr>
              <a:spcAft>
                <a:spcPts val="500"/>
              </a:spcAft>
              <a:defRPr sz="1000">
                <a:latin typeface="Arial"/>
              </a:defRPr>
            </a:pPr>
            <a:r>
              <a:rPr b="1">
                <a:solidFill>
                  <a:srgbClr val="E65100"/>
                </a:solidFill>
              </a:rPr>
              <a:t>• </a:t>
            </a:r>
            <a:r>
              <a:rPr b="1">
                <a:solidFill>
                  <a:srgbClr val="0F172A"/>
                </a:solidFill>
              </a:rPr>
              <a:t>Enterprise Security: </a:t>
            </a:r>
            <a:r>
              <a:rPr b="0">
                <a:solidFill>
                  <a:srgbClr val="334155"/>
                </a:solidFill>
              </a:rPr>
              <a:t>JWT bearer token authorization, Passlib/Bcrypt password hashing, Role-Based Access Control (Admin/Manager/Officer).</a:t>
            </a:r>
          </a:p>
          <a:p>
            <a:pPr>
              <a:spcAft>
                <a:spcPts val="500"/>
              </a:spcAft>
              <a:defRPr sz="1000">
                <a:latin typeface="Arial"/>
              </a:defRPr>
            </a:pPr>
            <a:r>
              <a:rPr b="1">
                <a:solidFill>
                  <a:srgbClr val="E65100"/>
                </a:solidFill>
              </a:rPr>
              <a:t>• </a:t>
            </a:r>
            <a:r>
              <a:rPr b="1">
                <a:solidFill>
                  <a:srgbClr val="0F172A"/>
                </a:solidFill>
              </a:rPr>
              <a:t>Automated Test Suite: </a:t>
            </a:r>
            <a:r>
              <a:rPr b="0">
                <a:solidFill>
                  <a:srgbClr val="334155"/>
                </a:solidFill>
              </a:rPr>
              <a:t>41/41 unit &amp; integration test suites passing in pytest (scoring calibration, RAG generation, practice isolation).</a:t>
            </a:r>
          </a:p>
        </p:txBody>
      </p:sp>
      <p:sp>
        <p:nvSpPr>
          <p:cNvPr id="17414" name="Rounded Rectangle 17413"/>
          <p:cNvSpPr/>
          <p:nvPr/>
        </p:nvSpPr>
        <p:spPr>
          <a:xfrm>
            <a:off x="6291072" y="1325880"/>
            <a:ext cx="5166360" cy="48920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5" name="Rectangle 17414"/>
          <p:cNvSpPr/>
          <p:nvPr/>
        </p:nvSpPr>
        <p:spPr>
          <a:xfrm>
            <a:off x="6428232" y="1463040"/>
            <a:ext cx="4892040" cy="36576"/>
          </a:xfrm>
          <a:prstGeom prst="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TextBox 17415"/>
          <p:cNvSpPr txBox="1"/>
          <p:nvPr/>
        </p:nvSpPr>
        <p:spPr>
          <a:xfrm>
            <a:off x="6473952" y="1554480"/>
            <a:ext cx="4800600" cy="4572000"/>
          </a:xfrm>
          <a:prstGeom prst="rect">
            <a:avLst/>
          </a:prstGeom>
          <a:noFill/>
        </p:spPr>
        <p:txBody>
          <a:bodyPr wrap="square" lIns="0" tIns="0" rIns="0" bIns="0">
            <a:spAutoFit/>
          </a:bodyPr>
          <a:lstStyle/>
          <a:p>
            <a:pPr>
              <a:spcAft>
                <a:spcPts val="200"/>
              </a:spcAft>
              <a:defRPr sz="1300" b="1">
                <a:solidFill>
                  <a:srgbClr val="0F172A"/>
                </a:solidFill>
                <a:latin typeface="Arial"/>
              </a:defRPr>
            </a:pPr>
            <a:r>
              <a:t>Methodology &amp; Implementation Process</a:t>
            </a:r>
          </a:p>
          <a:p>
            <a:pPr>
              <a:spcAft>
                <a:spcPts val="800"/>
              </a:spcAft>
              <a:defRPr sz="950" b="1">
                <a:solidFill>
                  <a:srgbClr val="107C41"/>
                </a:solidFill>
                <a:latin typeface="Arial"/>
              </a:defRPr>
            </a:pPr>
            <a:r>
              <a:t>END-TO-END RAG &amp; EVALUATION WORKFLOW</a:t>
            </a:r>
          </a:p>
          <a:p>
            <a:pPr>
              <a:spcAft>
                <a:spcPts val="500"/>
              </a:spcAft>
              <a:defRPr sz="1000">
                <a:latin typeface="Arial"/>
              </a:defRPr>
            </a:pPr>
            <a:r>
              <a:rPr b="1">
                <a:solidFill>
                  <a:srgbClr val="107C41"/>
                </a:solidFill>
              </a:rPr>
              <a:t>• </a:t>
            </a:r>
            <a:r>
              <a:rPr b="1">
                <a:solidFill>
                  <a:srgbClr val="0F172A"/>
                </a:solidFill>
              </a:rPr>
              <a:t>Stage 1: Document Ingestion: </a:t>
            </a:r>
            <a:r>
              <a:rPr b="0">
                <a:solidFill>
                  <a:srgbClr val="334155"/>
                </a:solidFill>
              </a:rPr>
              <a:t>Admins upload MoSPI manuals, circulars, or survey SOPs (PDF/DOCX/TXT) via the Admin Materials Studio.</a:t>
            </a:r>
          </a:p>
          <a:p>
            <a:pPr>
              <a:spcAft>
                <a:spcPts val="500"/>
              </a:spcAft>
              <a:defRPr sz="1000">
                <a:latin typeface="Arial"/>
              </a:defRPr>
            </a:pPr>
            <a:r>
              <a:rPr b="1">
                <a:solidFill>
                  <a:srgbClr val="107C41"/>
                </a:solidFill>
              </a:rPr>
              <a:t>• </a:t>
            </a:r>
            <a:r>
              <a:rPr b="1">
                <a:solidFill>
                  <a:srgbClr val="0F172A"/>
                </a:solidFill>
              </a:rPr>
              <a:t>Stage 2: Chunking &amp; Embedding: </a:t>
            </a:r>
            <a:r>
              <a:rPr b="0">
                <a:solidFill>
                  <a:srgbClr val="334155"/>
                </a:solidFill>
              </a:rPr>
              <a:t>System extracts text, creates semantic chunks, and generates 768-dimensional local vector embeddings.</a:t>
            </a:r>
          </a:p>
          <a:p>
            <a:pPr>
              <a:spcAft>
                <a:spcPts val="500"/>
              </a:spcAft>
              <a:defRPr sz="1000">
                <a:latin typeface="Arial"/>
              </a:defRPr>
            </a:pPr>
            <a:r>
              <a:rPr b="1">
                <a:solidFill>
                  <a:srgbClr val="107C41"/>
                </a:solidFill>
              </a:rPr>
              <a:t>• </a:t>
            </a:r>
            <a:r>
              <a:rPr b="1">
                <a:solidFill>
                  <a:srgbClr val="0F172A"/>
                </a:solidFill>
              </a:rPr>
              <a:t>Stage 3: Grounded MCQ Generation: </a:t>
            </a:r>
            <a:r>
              <a:rPr b="0">
                <a:solidFill>
                  <a:srgbClr val="334155"/>
                </a:solidFill>
              </a:rPr>
              <a:t>Local LLM cyclically applies 5 pedagogical angles to selected chunks, generating MCQs with verbatim source citations.</a:t>
            </a:r>
          </a:p>
          <a:p>
            <a:pPr>
              <a:spcAft>
                <a:spcPts val="500"/>
              </a:spcAft>
              <a:defRPr sz="1000">
                <a:latin typeface="Arial"/>
              </a:defRPr>
            </a:pPr>
            <a:r>
              <a:rPr b="1">
                <a:solidFill>
                  <a:srgbClr val="107C41"/>
                </a:solidFill>
              </a:rPr>
              <a:t>• </a:t>
            </a:r>
            <a:r>
              <a:rPr b="1">
                <a:solidFill>
                  <a:srgbClr val="0F172A"/>
                </a:solidFill>
              </a:rPr>
              <a:t>Stage 4: Admin Curation &amp; Publishing: </a:t>
            </a:r>
            <a:r>
              <a:rPr b="0">
                <a:solidFill>
                  <a:srgbClr val="334155"/>
                </a:solidFill>
              </a:rPr>
              <a:t>Admins review generated questions, edit distractors, and publish quizzes for cadre practice.</a:t>
            </a:r>
          </a:p>
          <a:p>
            <a:pPr>
              <a:spcAft>
                <a:spcPts val="500"/>
              </a:spcAft>
              <a:defRPr sz="1000">
                <a:latin typeface="Arial"/>
              </a:defRPr>
            </a:pPr>
            <a:r>
              <a:rPr b="1">
                <a:solidFill>
                  <a:srgbClr val="107C41"/>
                </a:solidFill>
              </a:rPr>
              <a:t>• </a:t>
            </a:r>
            <a:r>
              <a:rPr b="1">
                <a:solidFill>
                  <a:srgbClr val="0F172A"/>
                </a:solidFill>
              </a:rPr>
              <a:t>Stage 5: Score-Isolated Practice: </a:t>
            </a:r>
            <a:r>
              <a:rPr b="0">
                <a:solidFill>
                  <a:srgbClr val="334155"/>
                </a:solidFill>
              </a:rPr>
              <a:t>Officers take quizzes in a quarantined sandbox (is_practice=True) that reinforces learning without corrupting readiness.</a:t>
            </a:r>
          </a:p>
          <a:p>
            <a:pPr>
              <a:spcAft>
                <a:spcPts val="500"/>
              </a:spcAft>
              <a:defRPr sz="1000">
                <a:latin typeface="Arial"/>
              </a:defRPr>
            </a:pPr>
            <a:r>
              <a:rPr b="1">
                <a:solidFill>
                  <a:srgbClr val="107C41"/>
                </a:solidFill>
              </a:rPr>
              <a:t>• </a:t>
            </a:r>
            <a:r>
              <a:rPr b="1">
                <a:solidFill>
                  <a:srgbClr val="0F172A"/>
                </a:solidFill>
              </a:rPr>
              <a:t>Stage 6: Cadre Telemetry &amp; iGOT Sync: </a:t>
            </a:r>
            <a:r>
              <a:rPr b="0">
                <a:solidFill>
                  <a:srgbClr val="334155"/>
                </a:solidFill>
              </a:rPr>
              <a:t>Aggregated deficit metrics identify macro skill gaps, auto-linking officers to 53 NSSTA Karmayogi courses.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defRPr sz="2200" b="1">
                <a:solidFill>
                  <a:srgbClr val="0F172A"/>
                </a:solidFill>
                <a:latin typeface="Arial"/>
              </a:defRPr>
            </a:pPr>
            <a: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defRPr sz="850" b="1">
                <a:solidFill>
                  <a:srgbClr val="0F172A"/>
                </a:solidFill>
                <a:latin typeface="Arial"/>
              </a:defRPr>
            </a:pPr>
            <a:r>
              <a:t>[Team Name]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731520" y="960120"/>
            <a:ext cx="10728655" cy="320040"/>
          </a:xfrm>
          <a:prstGeom prst="rect">
            <a:avLst/>
          </a:prstGeom>
          <a:noFill/>
        </p:spPr>
        <p:txBody>
          <a:bodyPr wrap="none">
            <a:spAutoFit/>
          </a:bodyPr>
          <a:lstStyle/>
          <a:p>
            <a:pPr>
              <a:defRPr sz="1100" b="1">
                <a:solidFill>
                  <a:srgbClr val="E65100"/>
                </a:solidFill>
                <a:latin typeface="Arial"/>
              </a:defRPr>
            </a:pPr>
            <a:r>
              <a:t>Operational Feasibility, Zero-License Economics &amp; Technical Risk Mitigation Strategies</a:t>
            </a:r>
          </a:p>
        </p:txBody>
      </p:sp>
      <p:sp>
        <p:nvSpPr>
          <p:cNvPr id="17411" name="Rounded Rectangle 17410"/>
          <p:cNvSpPr/>
          <p:nvPr/>
        </p:nvSpPr>
        <p:spPr>
          <a:xfrm>
            <a:off x="731520" y="1325880"/>
            <a:ext cx="4114800" cy="48920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Rectangle 17411"/>
          <p:cNvSpPr/>
          <p:nvPr/>
        </p:nvSpPr>
        <p:spPr>
          <a:xfrm>
            <a:off x="868680" y="1463040"/>
            <a:ext cx="3840480" cy="36576"/>
          </a:xfrm>
          <a:prstGeom prst="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3" name="TextBox 17412"/>
          <p:cNvSpPr txBox="1"/>
          <p:nvPr/>
        </p:nvSpPr>
        <p:spPr>
          <a:xfrm>
            <a:off x="914400" y="1554480"/>
            <a:ext cx="3749040" cy="4572000"/>
          </a:xfrm>
          <a:prstGeom prst="rect">
            <a:avLst/>
          </a:prstGeom>
          <a:noFill/>
        </p:spPr>
        <p:txBody>
          <a:bodyPr wrap="square" lIns="0" tIns="0" rIns="0" bIns="0">
            <a:spAutoFit/>
          </a:bodyPr>
          <a:lstStyle/>
          <a:p>
            <a:pPr>
              <a:spcAft>
                <a:spcPts val="200"/>
              </a:spcAft>
              <a:defRPr sz="1300" b="1">
                <a:solidFill>
                  <a:srgbClr val="0F172A"/>
                </a:solidFill>
                <a:latin typeface="Arial"/>
              </a:defRPr>
            </a:pPr>
            <a:r>
              <a:t>Analysis of Feasibility</a:t>
            </a:r>
          </a:p>
          <a:p>
            <a:pPr>
              <a:spcAft>
                <a:spcPts val="800"/>
              </a:spcAft>
              <a:defRPr sz="950" b="1">
                <a:solidFill>
                  <a:srgbClr val="107C41"/>
                </a:solidFill>
                <a:latin typeface="Arial"/>
              </a:defRPr>
            </a:pPr>
            <a:r>
              <a:t>OPERATIONAL &amp; ECONOMIC VIABILITY</a:t>
            </a:r>
          </a:p>
          <a:p>
            <a:pPr>
              <a:spcAft>
                <a:spcPts val="500"/>
              </a:spcAft>
              <a:defRPr sz="1000">
                <a:latin typeface="Arial"/>
              </a:defRPr>
            </a:pPr>
            <a:r>
              <a:rPr b="1">
                <a:solidFill>
                  <a:srgbClr val="107C41"/>
                </a:solidFill>
              </a:rPr>
              <a:t>• </a:t>
            </a:r>
            <a:r>
              <a:rPr b="1">
                <a:solidFill>
                  <a:srgbClr val="0F172A"/>
                </a:solidFill>
              </a:rPr>
              <a:t>Functional Working MVP: </a:t>
            </a:r>
            <a:r>
              <a:rPr b="0">
                <a:solidFill>
                  <a:srgbClr val="334155"/>
                </a:solidFill>
              </a:rPr>
              <a:t>Fully implemented system with 47 RESTful endpoints, 12 seeded Indian Statistical Service officer profiles, and 53 NSSTA courses.</a:t>
            </a:r>
          </a:p>
          <a:p>
            <a:pPr>
              <a:spcAft>
                <a:spcPts val="500"/>
              </a:spcAft>
              <a:defRPr sz="1000">
                <a:latin typeface="Arial"/>
              </a:defRPr>
            </a:pPr>
            <a:r>
              <a:rPr b="1">
                <a:solidFill>
                  <a:srgbClr val="107C41"/>
                </a:solidFill>
              </a:rPr>
              <a:t>• </a:t>
            </a:r>
            <a:r>
              <a:rPr b="1">
                <a:solidFill>
                  <a:srgbClr val="0F172A"/>
                </a:solidFill>
              </a:rPr>
              <a:t>Zero-License Cost Architecture: </a:t>
            </a:r>
            <a:r>
              <a:rPr b="0">
                <a:solidFill>
                  <a:srgbClr val="334155"/>
                </a:solidFill>
              </a:rPr>
              <a:t>Built entirely on open-source frameworks (FastAPI, React, Ollama, SQLite). Zero third-party API dependencies or recurring cloud subscription fees.</a:t>
            </a:r>
          </a:p>
          <a:p>
            <a:pPr>
              <a:spcAft>
                <a:spcPts val="500"/>
              </a:spcAft>
              <a:defRPr sz="1000">
                <a:latin typeface="Arial"/>
              </a:defRPr>
            </a:pPr>
            <a:r>
              <a:rPr b="1">
                <a:solidFill>
                  <a:srgbClr val="107C41"/>
                </a:solidFill>
              </a:rPr>
              <a:t>• </a:t>
            </a:r>
            <a:r>
              <a:rPr b="1">
                <a:solidFill>
                  <a:srgbClr val="0F172A"/>
                </a:solidFill>
              </a:rPr>
              <a:t>Standard Hardware Footprint: </a:t>
            </a:r>
            <a:r>
              <a:rPr b="0">
                <a:solidFill>
                  <a:srgbClr val="334155"/>
                </a:solidFill>
              </a:rPr>
              <a:t>Lightweight quantized models (gemma3:4b) execute smoothly on standard NIC / MoSPI office laptops (8GB–16GB RAM) without requiring cloud GPU clusters.</a:t>
            </a:r>
          </a:p>
          <a:p>
            <a:pPr>
              <a:spcAft>
                <a:spcPts val="500"/>
              </a:spcAft>
              <a:defRPr sz="1000">
                <a:latin typeface="Arial"/>
              </a:defRPr>
            </a:pPr>
            <a:r>
              <a:rPr b="1">
                <a:solidFill>
                  <a:srgbClr val="107C41"/>
                </a:solidFill>
              </a:rPr>
              <a:t>• </a:t>
            </a:r>
            <a:r>
              <a:rPr b="1">
                <a:solidFill>
                  <a:srgbClr val="0F172A"/>
                </a:solidFill>
              </a:rPr>
              <a:t>Seamless User Onboarding: </a:t>
            </a:r>
            <a:r>
              <a:rPr b="0">
                <a:solidFill>
                  <a:srgbClr val="334155"/>
                </a:solidFill>
              </a:rPr>
              <a:t>Intuitive browser-based single-page application requires zero client-side installation or specialized technical training for statistical officers.</a:t>
            </a:r>
          </a:p>
        </p:txBody>
      </p:sp>
      <p:sp>
        <p:nvSpPr>
          <p:cNvPr id="17414" name="Rounded Rectangle 17413"/>
          <p:cNvSpPr/>
          <p:nvPr/>
        </p:nvSpPr>
        <p:spPr>
          <a:xfrm>
            <a:off x="5120640" y="1325880"/>
            <a:ext cx="6339535" cy="48920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5" name="Rectangle 17414"/>
          <p:cNvSpPr/>
          <p:nvPr/>
        </p:nvSpPr>
        <p:spPr>
          <a:xfrm>
            <a:off x="5257800" y="1463040"/>
            <a:ext cx="6065215" cy="36576"/>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TextBox 17415"/>
          <p:cNvSpPr txBox="1"/>
          <p:nvPr/>
        </p:nvSpPr>
        <p:spPr>
          <a:xfrm>
            <a:off x="5303520" y="1554480"/>
            <a:ext cx="5973775" cy="4572000"/>
          </a:xfrm>
          <a:prstGeom prst="rect">
            <a:avLst/>
          </a:prstGeom>
          <a:noFill/>
        </p:spPr>
        <p:txBody>
          <a:bodyPr wrap="square" lIns="0" tIns="0" rIns="0" bIns="0">
            <a:spAutoFit/>
          </a:bodyPr>
          <a:lstStyle/>
          <a:p>
            <a:pPr>
              <a:spcAft>
                <a:spcPts val="200"/>
              </a:spcAft>
              <a:defRPr sz="1300" b="1">
                <a:solidFill>
                  <a:srgbClr val="0F172A"/>
                </a:solidFill>
                <a:latin typeface="Arial"/>
              </a:defRPr>
            </a:pPr>
            <a:r>
              <a:t>Potential Challenges, Risks &amp; Mitigation Strategies</a:t>
            </a:r>
          </a:p>
          <a:p>
            <a:pPr>
              <a:spcAft>
                <a:spcPts val="800"/>
              </a:spcAft>
              <a:defRPr sz="950" b="1">
                <a:solidFill>
                  <a:srgbClr val="E65100"/>
                </a:solidFill>
                <a:latin typeface="Arial"/>
              </a:defRPr>
            </a:pPr>
            <a:r>
              <a:t>ROBUST DEFENSIVE ENGINEERING</a:t>
            </a:r>
          </a:p>
          <a:p>
            <a:pPr>
              <a:spcAft>
                <a:spcPts val="500"/>
              </a:spcAft>
              <a:defRPr sz="1000">
                <a:latin typeface="Arial"/>
              </a:defRPr>
            </a:pPr>
            <a:r>
              <a:rPr b="1">
                <a:solidFill>
                  <a:srgbClr val="E65100"/>
                </a:solidFill>
              </a:rPr>
              <a:t>• </a:t>
            </a:r>
            <a:r>
              <a:rPr b="1">
                <a:solidFill>
                  <a:srgbClr val="0F172A"/>
                </a:solidFill>
              </a:rPr>
              <a:t>Risk: LLM Hallucinations in MCQs: </a:t>
            </a:r>
            <a:r>
              <a:rPr b="0">
                <a:solidFill>
                  <a:srgbClr val="334155"/>
                </a:solidFill>
              </a:rPr>
              <a:t>Mitigation: Strict single-chunk context bounding; local model extracts solely from provided text; UI displays verbatim source citation snippet.</a:t>
            </a:r>
          </a:p>
          <a:p>
            <a:pPr>
              <a:spcAft>
                <a:spcPts val="500"/>
              </a:spcAft>
              <a:defRPr sz="1000">
                <a:latin typeface="Arial"/>
              </a:defRPr>
            </a:pPr>
            <a:r>
              <a:rPr b="1">
                <a:solidFill>
                  <a:srgbClr val="E65100"/>
                </a:solidFill>
              </a:rPr>
              <a:t>• </a:t>
            </a:r>
            <a:r>
              <a:rPr b="1">
                <a:solidFill>
                  <a:srgbClr val="0F172A"/>
                </a:solidFill>
              </a:rPr>
              <a:t>Risk: Unearned Readiness Score Jumps: </a:t>
            </a:r>
            <a:r>
              <a:rPr b="0">
                <a:solidFill>
                  <a:srgbClr val="334155"/>
                </a:solidFill>
              </a:rPr>
              <a:t>Mitigation: 1-question competency evaluations capped at max 80%; requires 2+ questions for 100% score; practice attempts quarantined via is_practice=True.</a:t>
            </a:r>
          </a:p>
          <a:p>
            <a:pPr>
              <a:spcAft>
                <a:spcPts val="500"/>
              </a:spcAft>
              <a:defRPr sz="1000">
                <a:latin typeface="Arial"/>
              </a:defRPr>
            </a:pPr>
            <a:r>
              <a:rPr b="1">
                <a:solidFill>
                  <a:srgbClr val="E65100"/>
                </a:solidFill>
              </a:rPr>
              <a:t>• </a:t>
            </a:r>
            <a:r>
              <a:rPr b="1">
                <a:solidFill>
                  <a:srgbClr val="0F172A"/>
                </a:solidFill>
              </a:rPr>
              <a:t>Risk: Sensitive Government Data Leaks: </a:t>
            </a:r>
            <a:r>
              <a:rPr b="0">
                <a:solidFill>
                  <a:srgbClr val="334155"/>
                </a:solidFill>
              </a:rPr>
              <a:t>Mitigation: 100% on-premises execution via local Ollama runtime; zero external API egress or third-party telemetry, ensuring complete sovereign data compliance.</a:t>
            </a:r>
          </a:p>
          <a:p>
            <a:pPr>
              <a:spcAft>
                <a:spcPts val="500"/>
              </a:spcAft>
              <a:defRPr sz="1000">
                <a:latin typeface="Arial"/>
              </a:defRPr>
            </a:pPr>
            <a:r>
              <a:rPr b="1">
                <a:solidFill>
                  <a:srgbClr val="E65100"/>
                </a:solidFill>
              </a:rPr>
              <a:t>• </a:t>
            </a:r>
            <a:r>
              <a:rPr b="1">
                <a:solidFill>
                  <a:srgbClr val="0F172A"/>
                </a:solidFill>
              </a:rPr>
              <a:t>Risk: Low Field Officer Engagement: </a:t>
            </a:r>
            <a:r>
              <a:rPr b="0">
                <a:solidFill>
                  <a:srgbClr val="334155"/>
                </a:solidFill>
              </a:rPr>
              <a:t>Mitigation: Non-punitive zero-penalty diagnostics; conversational mentoring via 'Disha' AI; direct 1-click enrollment into relevant iGOT Karmayogi courses.</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defRPr sz="2200" b="1">
                <a:solidFill>
                  <a:srgbClr val="0F172A"/>
                </a:solidFill>
                <a:latin typeface="Arial"/>
              </a:defRPr>
            </a:pPr>
            <a: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defRPr sz="850" b="1">
                <a:solidFill>
                  <a:srgbClr val="0F172A"/>
                </a:solidFill>
                <a:latin typeface="Arial"/>
              </a:defRPr>
            </a:pPr>
            <a:r>
              <a:t>[Team Name]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731520" y="960120"/>
            <a:ext cx="10728655" cy="320040"/>
          </a:xfrm>
          <a:prstGeom prst="rect">
            <a:avLst/>
          </a:prstGeom>
          <a:noFill/>
        </p:spPr>
        <p:txBody>
          <a:bodyPr wrap="none">
            <a:spAutoFit/>
          </a:bodyPr>
          <a:lstStyle/>
          <a:p>
            <a:pPr>
              <a:defRPr sz="1100" b="1">
                <a:solidFill>
                  <a:srgbClr val="E65100"/>
                </a:solidFill>
                <a:latin typeface="Arial"/>
              </a:defRPr>
            </a:pPr>
            <a:r>
              <a:t>Multi-Tier Value Proposition: Statistical Officers, MoSPI Cadre Leadership &amp; National Data Governance</a:t>
            </a:r>
          </a:p>
        </p:txBody>
      </p:sp>
      <p:sp>
        <p:nvSpPr>
          <p:cNvPr id="17411" name="Rounded Rectangle 17410"/>
          <p:cNvSpPr/>
          <p:nvPr/>
        </p:nvSpPr>
        <p:spPr>
          <a:xfrm>
            <a:off x="731520" y="1325880"/>
            <a:ext cx="5166360" cy="23317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Rectangle 17411"/>
          <p:cNvSpPr/>
          <p:nvPr/>
        </p:nvSpPr>
        <p:spPr>
          <a:xfrm>
            <a:off x="868680" y="1463040"/>
            <a:ext cx="4892040" cy="36576"/>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3" name="TextBox 17412"/>
          <p:cNvSpPr txBox="1"/>
          <p:nvPr/>
        </p:nvSpPr>
        <p:spPr>
          <a:xfrm>
            <a:off x="914400" y="1554480"/>
            <a:ext cx="4800600" cy="2011680"/>
          </a:xfrm>
          <a:prstGeom prst="rect">
            <a:avLst/>
          </a:prstGeom>
          <a:noFill/>
        </p:spPr>
        <p:txBody>
          <a:bodyPr wrap="square" lIns="0" tIns="0" rIns="0" bIns="0">
            <a:spAutoFit/>
          </a:bodyPr>
          <a:lstStyle/>
          <a:p>
            <a:pPr>
              <a:spcAft>
                <a:spcPts val="200"/>
              </a:spcAft>
              <a:defRPr sz="1300" b="1">
                <a:solidFill>
                  <a:srgbClr val="0F172A"/>
                </a:solidFill>
                <a:latin typeface="Arial"/>
              </a:defRPr>
            </a:pPr>
            <a:r>
              <a:t>Target Audience: Statistical Cadre (SSO/JSO)</a:t>
            </a:r>
          </a:p>
          <a:p>
            <a:pPr>
              <a:spcAft>
                <a:spcPts val="800"/>
              </a:spcAft>
              <a:defRPr sz="950" b="1">
                <a:solidFill>
                  <a:srgbClr val="E65100"/>
                </a:solidFill>
                <a:latin typeface="Arial"/>
              </a:defRPr>
            </a:pPr>
            <a:r>
              <a:t>INDIVIDUAL OFFICER EMPOWERMENT</a:t>
            </a:r>
          </a:p>
          <a:p>
            <a:pPr>
              <a:spcAft>
                <a:spcPts val="500"/>
              </a:spcAft>
              <a:defRPr sz="1000">
                <a:latin typeface="Arial"/>
              </a:defRPr>
            </a:pPr>
            <a:r>
              <a:rPr b="1">
                <a:solidFill>
                  <a:srgbClr val="E65100"/>
                </a:solidFill>
              </a:rPr>
              <a:t>• </a:t>
            </a:r>
            <a:r>
              <a:rPr b="1">
                <a:solidFill>
                  <a:srgbClr val="0F172A"/>
                </a:solidFill>
              </a:rPr>
              <a:t>Transparent Career Clarity: </a:t>
            </a:r>
            <a:r>
              <a:rPr b="0">
                <a:solidFill>
                  <a:srgbClr val="334155"/>
                </a:solidFill>
              </a:rPr>
              <a:t>Continuous visibility into skill gaps across 4 domains, replacing opaque annual reviews.</a:t>
            </a:r>
          </a:p>
          <a:p>
            <a:pPr>
              <a:spcAft>
                <a:spcPts val="500"/>
              </a:spcAft>
              <a:defRPr sz="1000">
                <a:latin typeface="Arial"/>
              </a:defRPr>
            </a:pPr>
            <a:r>
              <a:rPr b="1">
                <a:solidFill>
                  <a:srgbClr val="E65100"/>
                </a:solidFill>
              </a:rPr>
              <a:t>• </a:t>
            </a:r>
            <a:r>
              <a:rPr b="1">
                <a:solidFill>
                  <a:srgbClr val="0F172A"/>
                </a:solidFill>
              </a:rPr>
              <a:t>Targeted iGOT Courses: </a:t>
            </a:r>
            <a:r>
              <a:rPr b="0">
                <a:solidFill>
                  <a:srgbClr val="334155"/>
                </a:solidFill>
              </a:rPr>
              <a:t>Direct routing to 53 NSSTA courses tailored to individual competency deficits.</a:t>
            </a:r>
          </a:p>
          <a:p>
            <a:pPr>
              <a:spcAft>
                <a:spcPts val="500"/>
              </a:spcAft>
              <a:defRPr sz="1000">
                <a:latin typeface="Arial"/>
              </a:defRPr>
            </a:pPr>
            <a:r>
              <a:rPr b="1">
                <a:solidFill>
                  <a:srgbClr val="E65100"/>
                </a:solidFill>
              </a:rPr>
              <a:t>• </a:t>
            </a:r>
            <a:r>
              <a:rPr b="1">
                <a:solidFill>
                  <a:srgbClr val="0F172A"/>
                </a:solidFill>
              </a:rPr>
              <a:t>Psychological Safety: </a:t>
            </a:r>
            <a:r>
              <a:rPr b="0">
                <a:solidFill>
                  <a:srgbClr val="334155"/>
                </a:solidFill>
              </a:rPr>
              <a:t>Zero-penalty sandbox practice quizzes eliminate test anxiety and promote self-learning.</a:t>
            </a:r>
          </a:p>
        </p:txBody>
      </p:sp>
      <p:sp>
        <p:nvSpPr>
          <p:cNvPr id="17414" name="Rounded Rectangle 17413"/>
          <p:cNvSpPr/>
          <p:nvPr/>
        </p:nvSpPr>
        <p:spPr>
          <a:xfrm>
            <a:off x="6291072" y="1325880"/>
            <a:ext cx="5166360" cy="23317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5" name="Rectangle 17414"/>
          <p:cNvSpPr/>
          <p:nvPr/>
        </p:nvSpPr>
        <p:spPr>
          <a:xfrm>
            <a:off x="6428232" y="1463040"/>
            <a:ext cx="4892040" cy="36576"/>
          </a:xfrm>
          <a:prstGeom prst="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TextBox 17415"/>
          <p:cNvSpPr txBox="1"/>
          <p:nvPr/>
        </p:nvSpPr>
        <p:spPr>
          <a:xfrm>
            <a:off x="6473952" y="1554480"/>
            <a:ext cx="4800600" cy="2011680"/>
          </a:xfrm>
          <a:prstGeom prst="rect">
            <a:avLst/>
          </a:prstGeom>
          <a:noFill/>
        </p:spPr>
        <p:txBody>
          <a:bodyPr wrap="square" lIns="0" tIns="0" rIns="0" bIns="0">
            <a:spAutoFit/>
          </a:bodyPr>
          <a:lstStyle/>
          <a:p>
            <a:pPr>
              <a:spcAft>
                <a:spcPts val="200"/>
              </a:spcAft>
              <a:defRPr sz="1300" b="1">
                <a:solidFill>
                  <a:srgbClr val="0F172A"/>
                </a:solidFill>
                <a:latin typeface="Arial"/>
              </a:defRPr>
            </a:pPr>
            <a:r>
              <a:t>Target Audience: Cadre Leadership &amp; NSSTA</a:t>
            </a:r>
          </a:p>
          <a:p>
            <a:pPr>
              <a:spcAft>
                <a:spcPts val="800"/>
              </a:spcAft>
              <a:defRPr sz="950" b="1">
                <a:solidFill>
                  <a:srgbClr val="107C41"/>
                </a:solidFill>
                <a:latin typeface="Arial"/>
              </a:defRPr>
            </a:pPr>
            <a:r>
              <a:t>STRATEGIC WORKFORCE INTELLIGENCE</a:t>
            </a:r>
          </a:p>
          <a:p>
            <a:pPr>
              <a:spcAft>
                <a:spcPts val="500"/>
              </a:spcAft>
              <a:defRPr sz="1000">
                <a:latin typeface="Arial"/>
              </a:defRPr>
            </a:pPr>
            <a:r>
              <a:rPr b="1">
                <a:solidFill>
                  <a:srgbClr val="107C41"/>
                </a:solidFill>
              </a:rPr>
              <a:t>• </a:t>
            </a:r>
            <a:r>
              <a:rPr b="1">
                <a:solidFill>
                  <a:srgbClr val="0F172A"/>
                </a:solidFill>
              </a:rPr>
              <a:t>Cadre-Wide Telemetry: </a:t>
            </a:r>
            <a:r>
              <a:rPr b="0">
                <a:solidFill>
                  <a:srgbClr val="334155"/>
                </a:solidFill>
              </a:rPr>
              <a:t>Macro visibility into readiness across divisions (NAD, FOD, ESD, CPD).</a:t>
            </a:r>
          </a:p>
          <a:p>
            <a:pPr>
              <a:spcAft>
                <a:spcPts val="500"/>
              </a:spcAft>
              <a:defRPr sz="1000">
                <a:latin typeface="Arial"/>
              </a:defRPr>
            </a:pPr>
            <a:r>
              <a:rPr b="1">
                <a:solidFill>
                  <a:srgbClr val="107C41"/>
                </a:solidFill>
              </a:rPr>
              <a:t>• </a:t>
            </a:r>
            <a:r>
              <a:rPr b="1">
                <a:solidFill>
                  <a:srgbClr val="0F172A"/>
                </a:solidFill>
              </a:rPr>
              <a:t>Evidence-Based Deployment: </a:t>
            </a:r>
            <a:r>
              <a:rPr b="0">
                <a:solidFill>
                  <a:srgbClr val="334155"/>
                </a:solidFill>
              </a:rPr>
              <a:t>Assign officers to complex statistical operations (Census, PLFS) based on verified skills.</a:t>
            </a:r>
          </a:p>
          <a:p>
            <a:pPr>
              <a:spcAft>
                <a:spcPts val="500"/>
              </a:spcAft>
              <a:defRPr sz="1000">
                <a:latin typeface="Arial"/>
              </a:defRPr>
            </a:pPr>
            <a:r>
              <a:rPr b="1">
                <a:solidFill>
                  <a:srgbClr val="107C41"/>
                </a:solidFill>
              </a:rPr>
              <a:t>• </a:t>
            </a:r>
            <a:r>
              <a:rPr b="1">
                <a:solidFill>
                  <a:srgbClr val="0F172A"/>
                </a:solidFill>
              </a:rPr>
              <a:t>Targeted Interventions: </a:t>
            </a:r>
            <a:r>
              <a:rPr b="0">
                <a:solidFill>
                  <a:srgbClr val="334155"/>
                </a:solidFill>
              </a:rPr>
              <a:t>Identifies systemic deficits to guide MoSPI and NSSTA institutional curriculum updates.</a:t>
            </a:r>
          </a:p>
        </p:txBody>
      </p:sp>
      <p:sp>
        <p:nvSpPr>
          <p:cNvPr id="17417" name="Rounded Rectangle 17416"/>
          <p:cNvSpPr/>
          <p:nvPr/>
        </p:nvSpPr>
        <p:spPr>
          <a:xfrm>
            <a:off x="731520" y="3840480"/>
            <a:ext cx="5166360" cy="23317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Rectangle 17417"/>
          <p:cNvSpPr/>
          <p:nvPr/>
        </p:nvSpPr>
        <p:spPr>
          <a:xfrm>
            <a:off x="868680" y="3977640"/>
            <a:ext cx="4892040" cy="36576"/>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9" name="TextBox 17418"/>
          <p:cNvSpPr txBox="1"/>
          <p:nvPr/>
        </p:nvSpPr>
        <p:spPr>
          <a:xfrm>
            <a:off x="914400" y="4069080"/>
            <a:ext cx="4800600" cy="2011680"/>
          </a:xfrm>
          <a:prstGeom prst="rect">
            <a:avLst/>
          </a:prstGeom>
          <a:noFill/>
        </p:spPr>
        <p:txBody>
          <a:bodyPr wrap="square" lIns="0" tIns="0" rIns="0" bIns="0">
            <a:spAutoFit/>
          </a:bodyPr>
          <a:lstStyle/>
          <a:p>
            <a:pPr>
              <a:spcAft>
                <a:spcPts val="200"/>
              </a:spcAft>
              <a:defRPr sz="1300" b="1">
                <a:solidFill>
                  <a:srgbClr val="0F172A"/>
                </a:solidFill>
                <a:latin typeface="Arial"/>
              </a:defRPr>
            </a:pPr>
            <a:r>
              <a:t>Economic &amp; Operational Benefits</a:t>
            </a:r>
          </a:p>
          <a:p>
            <a:pPr>
              <a:spcAft>
                <a:spcPts val="800"/>
              </a:spcAft>
              <a:defRPr sz="950" b="1">
                <a:solidFill>
                  <a:srgbClr val="0F172A"/>
                </a:solidFill>
                <a:latin typeface="Arial"/>
              </a:defRPr>
            </a:pPr>
            <a:r>
              <a:t>RESOURCE EFFICIENCY &amp; COST SAVINGS</a:t>
            </a:r>
          </a:p>
          <a:p>
            <a:pPr>
              <a:spcAft>
                <a:spcPts val="500"/>
              </a:spcAft>
              <a:defRPr sz="1000">
                <a:latin typeface="Arial"/>
              </a:defRPr>
            </a:pPr>
            <a:r>
              <a:rPr b="1">
                <a:solidFill>
                  <a:srgbClr val="0F172A"/>
                </a:solidFill>
              </a:rPr>
              <a:t>• </a:t>
            </a:r>
            <a:r>
              <a:rPr b="1">
                <a:solidFill>
                  <a:srgbClr val="0F172A"/>
                </a:solidFill>
              </a:rPr>
              <a:t>80% Faster Assessment Creation: </a:t>
            </a:r>
            <a:r>
              <a:rPr b="0">
                <a:solidFill>
                  <a:srgbClr val="334155"/>
                </a:solidFill>
              </a:rPr>
              <a:t>Automated RAG quiz generation reduces exam preparation time from hours to under 30 seconds.</a:t>
            </a:r>
          </a:p>
          <a:p>
            <a:pPr>
              <a:spcAft>
                <a:spcPts val="500"/>
              </a:spcAft>
              <a:defRPr sz="1000">
                <a:latin typeface="Arial"/>
              </a:defRPr>
            </a:pPr>
            <a:r>
              <a:rPr b="1">
                <a:solidFill>
                  <a:srgbClr val="0F172A"/>
                </a:solidFill>
              </a:rPr>
              <a:t>• </a:t>
            </a:r>
            <a:r>
              <a:rPr b="1">
                <a:solidFill>
                  <a:srgbClr val="0F172A"/>
                </a:solidFill>
              </a:rPr>
              <a:t>Optimized Karmayogi ROI: </a:t>
            </a:r>
            <a:r>
              <a:rPr b="0">
                <a:solidFill>
                  <a:srgbClr val="334155"/>
                </a:solidFill>
              </a:rPr>
              <a:t>Eliminates wasted training hours by enrolling officers solely in gap-closing courses.</a:t>
            </a:r>
          </a:p>
          <a:p>
            <a:pPr>
              <a:spcAft>
                <a:spcPts val="500"/>
              </a:spcAft>
              <a:defRPr sz="1000">
                <a:latin typeface="Arial"/>
              </a:defRPr>
            </a:pPr>
            <a:r>
              <a:rPr b="1">
                <a:solidFill>
                  <a:srgbClr val="0F172A"/>
                </a:solidFill>
              </a:rPr>
              <a:t>• </a:t>
            </a:r>
            <a:r>
              <a:rPr b="1">
                <a:solidFill>
                  <a:srgbClr val="0F172A"/>
                </a:solidFill>
              </a:rPr>
              <a:t>Zero Recurring Software Costs: </a:t>
            </a:r>
            <a:r>
              <a:rPr b="0">
                <a:solidFill>
                  <a:srgbClr val="334155"/>
                </a:solidFill>
              </a:rPr>
              <a:t>Built 100% on open-source stack, eliminating costly cloud SaaS subscriptions.</a:t>
            </a:r>
          </a:p>
        </p:txBody>
      </p:sp>
      <p:sp>
        <p:nvSpPr>
          <p:cNvPr id="17420" name="Rounded Rectangle 17419"/>
          <p:cNvSpPr/>
          <p:nvPr/>
        </p:nvSpPr>
        <p:spPr>
          <a:xfrm>
            <a:off x="6291072" y="3840480"/>
            <a:ext cx="5166360" cy="23317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1" name="Rectangle 17420"/>
          <p:cNvSpPr/>
          <p:nvPr/>
        </p:nvSpPr>
        <p:spPr>
          <a:xfrm>
            <a:off x="6428232" y="3977640"/>
            <a:ext cx="4892040" cy="36576"/>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2" name="TextBox 17421"/>
          <p:cNvSpPr txBox="1"/>
          <p:nvPr/>
        </p:nvSpPr>
        <p:spPr>
          <a:xfrm>
            <a:off x="6473952" y="4069080"/>
            <a:ext cx="4800600" cy="2011680"/>
          </a:xfrm>
          <a:prstGeom prst="rect">
            <a:avLst/>
          </a:prstGeom>
          <a:noFill/>
        </p:spPr>
        <p:txBody>
          <a:bodyPr wrap="square" lIns="0" tIns="0" rIns="0" bIns="0">
            <a:spAutoFit/>
          </a:bodyPr>
          <a:lstStyle/>
          <a:p>
            <a:pPr>
              <a:spcAft>
                <a:spcPts val="200"/>
              </a:spcAft>
              <a:defRPr sz="1300" b="1">
                <a:solidFill>
                  <a:srgbClr val="0F172A"/>
                </a:solidFill>
                <a:latin typeface="Arial"/>
              </a:defRPr>
            </a:pPr>
            <a:r>
              <a:t>Institutional &amp; Governance Benefits</a:t>
            </a:r>
          </a:p>
          <a:p>
            <a:pPr>
              <a:spcAft>
                <a:spcPts val="800"/>
              </a:spcAft>
              <a:defRPr sz="950" b="1">
                <a:solidFill>
                  <a:srgbClr val="E65100"/>
                </a:solidFill>
                <a:latin typeface="Arial"/>
              </a:defRPr>
            </a:pPr>
            <a:r>
              <a:t>NATIONAL DATA EXCELLENCE</a:t>
            </a:r>
          </a:p>
          <a:p>
            <a:pPr>
              <a:spcAft>
                <a:spcPts val="500"/>
              </a:spcAft>
              <a:defRPr sz="1000">
                <a:latin typeface="Arial"/>
              </a:defRPr>
            </a:pPr>
            <a:r>
              <a:rPr b="1">
                <a:solidFill>
                  <a:srgbClr val="E65100"/>
                </a:solidFill>
              </a:rPr>
              <a:t>• </a:t>
            </a:r>
            <a:r>
              <a:rPr b="1">
                <a:solidFill>
                  <a:srgbClr val="0F172A"/>
                </a:solidFill>
              </a:rPr>
              <a:t>Higher National Data Integrity: </a:t>
            </a:r>
            <a:r>
              <a:rPr b="0">
                <a:solidFill>
                  <a:srgbClr val="334155"/>
                </a:solidFill>
              </a:rPr>
              <a:t>A highly skilled cadre directly improves the accuracy of core indicators (GDP, CPI, IIP).</a:t>
            </a:r>
          </a:p>
          <a:p>
            <a:pPr>
              <a:spcAft>
                <a:spcPts val="500"/>
              </a:spcAft>
              <a:defRPr sz="1000">
                <a:latin typeface="Arial"/>
              </a:defRPr>
            </a:pPr>
            <a:r>
              <a:rPr b="1">
                <a:solidFill>
                  <a:srgbClr val="E65100"/>
                </a:solidFill>
              </a:rPr>
              <a:t>• </a:t>
            </a:r>
            <a:r>
              <a:rPr b="1">
                <a:solidFill>
                  <a:srgbClr val="0F172A"/>
                </a:solidFill>
              </a:rPr>
              <a:t>Mission Karmayogi Alignment: </a:t>
            </a:r>
            <a:r>
              <a:rPr b="0">
                <a:solidFill>
                  <a:srgbClr val="334155"/>
                </a:solidFill>
              </a:rPr>
              <a:t>Directly operationalizes DoPT's FRAC (Framework for Roles, Activities &amp; Competencies).</a:t>
            </a:r>
          </a:p>
          <a:p>
            <a:pPr>
              <a:spcAft>
                <a:spcPts val="500"/>
              </a:spcAft>
              <a:defRPr sz="1000">
                <a:latin typeface="Arial"/>
              </a:defRPr>
            </a:pPr>
            <a:r>
              <a:rPr b="1">
                <a:solidFill>
                  <a:srgbClr val="E65100"/>
                </a:solidFill>
              </a:rPr>
              <a:t>• </a:t>
            </a:r>
            <a:r>
              <a:rPr b="1">
                <a:solidFill>
                  <a:srgbClr val="0F172A"/>
                </a:solidFill>
              </a:rPr>
              <a:t>Digital India &amp; Sovereignty: </a:t>
            </a:r>
            <a:r>
              <a:rPr b="0">
                <a:solidFill>
                  <a:srgbClr val="334155"/>
                </a:solidFill>
              </a:rPr>
              <a:t>Sets a benchmark for privacy-preserving, on-premises AI deployment in civil services.</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defRPr sz="2200" b="1">
                <a:solidFill>
                  <a:srgbClr val="0F172A"/>
                </a:solidFill>
                <a:latin typeface="Arial"/>
              </a:defRPr>
            </a:pPr>
            <a: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defRPr sz="850" b="1">
                <a:solidFill>
                  <a:srgbClr val="0F172A"/>
                </a:solidFill>
                <a:latin typeface="Arial"/>
              </a:defRPr>
            </a:pPr>
            <a:r>
              <a:t>[Team Name]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731520" y="960120"/>
            <a:ext cx="10728655" cy="320040"/>
          </a:xfrm>
          <a:prstGeom prst="rect">
            <a:avLst/>
          </a:prstGeom>
          <a:noFill/>
        </p:spPr>
        <p:txBody>
          <a:bodyPr wrap="none">
            <a:spAutoFit/>
          </a:bodyPr>
          <a:lstStyle/>
          <a:p>
            <a:pPr>
              <a:defRPr sz="1100" b="1">
                <a:solidFill>
                  <a:srgbClr val="E65100"/>
                </a:solidFill>
                <a:latin typeface="Arial"/>
              </a:defRPr>
            </a:pPr>
            <a:r>
              <a:t>Statutory MoSPI Frameworks, Mission Karmayogi Guidelines, AI Literature &amp; System Metrics</a:t>
            </a:r>
          </a:p>
        </p:txBody>
      </p:sp>
      <p:sp>
        <p:nvSpPr>
          <p:cNvPr id="17411" name="Rounded Rectangle 17410"/>
          <p:cNvSpPr/>
          <p:nvPr/>
        </p:nvSpPr>
        <p:spPr>
          <a:xfrm>
            <a:off x="731520" y="1325880"/>
            <a:ext cx="3429000" cy="48920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Rectangle 17411"/>
          <p:cNvSpPr/>
          <p:nvPr/>
        </p:nvSpPr>
        <p:spPr>
          <a:xfrm>
            <a:off x="868680" y="1463040"/>
            <a:ext cx="3154680" cy="36576"/>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3" name="TextBox 17412"/>
          <p:cNvSpPr txBox="1"/>
          <p:nvPr/>
        </p:nvSpPr>
        <p:spPr>
          <a:xfrm>
            <a:off x="914400" y="1554480"/>
            <a:ext cx="3063240" cy="4572000"/>
          </a:xfrm>
          <a:prstGeom prst="rect">
            <a:avLst/>
          </a:prstGeom>
          <a:noFill/>
        </p:spPr>
        <p:txBody>
          <a:bodyPr wrap="square" lIns="0" tIns="0" rIns="0" bIns="0">
            <a:spAutoFit/>
          </a:bodyPr>
          <a:lstStyle/>
          <a:p>
            <a:pPr>
              <a:spcAft>
                <a:spcPts val="200"/>
              </a:spcAft>
              <a:defRPr sz="1300" b="1">
                <a:solidFill>
                  <a:srgbClr val="0F172A"/>
                </a:solidFill>
                <a:latin typeface="Arial"/>
              </a:defRPr>
            </a:pPr>
            <a:r>
              <a:t>Government &amp; Cadre Frameworks</a:t>
            </a:r>
          </a:p>
          <a:p>
            <a:pPr>
              <a:spcAft>
                <a:spcPts val="800"/>
              </a:spcAft>
              <a:defRPr sz="950" b="1">
                <a:solidFill>
                  <a:srgbClr val="E65100"/>
                </a:solidFill>
                <a:latin typeface="Arial"/>
              </a:defRPr>
            </a:pPr>
            <a:r>
              <a:t>OFFICIAL GUIDELINES</a:t>
            </a:r>
          </a:p>
          <a:p>
            <a:pPr>
              <a:spcAft>
                <a:spcPts val="500"/>
              </a:spcAft>
              <a:defRPr sz="1000">
                <a:latin typeface="Arial"/>
              </a:defRPr>
            </a:pPr>
            <a:r>
              <a:rPr b="1">
                <a:solidFill>
                  <a:srgbClr val="E65100"/>
                </a:solidFill>
              </a:rPr>
              <a:t>• </a:t>
            </a:r>
            <a:r>
              <a:rPr b="1">
                <a:solidFill>
                  <a:srgbClr val="0F172A"/>
                </a:solidFill>
              </a:rPr>
              <a:t>Mission Karmayogi (DoPT): </a:t>
            </a:r>
            <a:r>
              <a:rPr b="0">
                <a:solidFill>
                  <a:srgbClr val="334155"/>
                </a:solidFill>
              </a:rPr>
              <a:t>National Programme for Civil Services Capacity Building (NPCSCB) &amp; FRAC Framework. [karmayogi.gov.in]</a:t>
            </a:r>
          </a:p>
          <a:p>
            <a:pPr>
              <a:spcAft>
                <a:spcPts val="500"/>
              </a:spcAft>
              <a:defRPr sz="1000">
                <a:latin typeface="Arial"/>
              </a:defRPr>
            </a:pPr>
            <a:r>
              <a:rPr b="1">
                <a:solidFill>
                  <a:srgbClr val="E65100"/>
                </a:solidFill>
              </a:rPr>
              <a:t>• </a:t>
            </a:r>
            <a:r>
              <a:rPr b="1">
                <a:solidFill>
                  <a:srgbClr val="0F172A"/>
                </a:solidFill>
              </a:rPr>
              <a:t>MoSPI Cadre Regulations: </a:t>
            </a:r>
            <a:r>
              <a:rPr b="0">
                <a:solidFill>
                  <a:srgbClr val="334155"/>
                </a:solidFill>
              </a:rPr>
              <a:t>Service rules governing Indian Statistical Service (ISS) and Subordinate Statistical Service (SSS) promotion readiness.</a:t>
            </a:r>
          </a:p>
          <a:p>
            <a:pPr>
              <a:spcAft>
                <a:spcPts val="500"/>
              </a:spcAft>
              <a:defRPr sz="1000">
                <a:latin typeface="Arial"/>
              </a:defRPr>
            </a:pPr>
            <a:r>
              <a:rPr b="1">
                <a:solidFill>
                  <a:srgbClr val="E65100"/>
                </a:solidFill>
              </a:rPr>
              <a:t>• </a:t>
            </a:r>
            <a:r>
              <a:rPr b="1">
                <a:solidFill>
                  <a:srgbClr val="0F172A"/>
                </a:solidFill>
              </a:rPr>
              <a:t>NSSTA Greater Noida Catalog: </a:t>
            </a:r>
            <a:r>
              <a:rPr b="0">
                <a:solidFill>
                  <a:srgbClr val="334155"/>
                </a:solidFill>
              </a:rPr>
              <a:t>National Statistical Systems Training Academy - Training Program Catalog (53 domain-specific courses).</a:t>
            </a:r>
          </a:p>
          <a:p>
            <a:pPr>
              <a:spcAft>
                <a:spcPts val="500"/>
              </a:spcAft>
              <a:defRPr sz="1000">
                <a:latin typeface="Arial"/>
              </a:defRPr>
            </a:pPr>
            <a:r>
              <a:rPr b="1">
                <a:solidFill>
                  <a:srgbClr val="E65100"/>
                </a:solidFill>
              </a:rPr>
              <a:t>• </a:t>
            </a:r>
            <a:r>
              <a:rPr b="1">
                <a:solidFill>
                  <a:srgbClr val="0F172A"/>
                </a:solidFill>
              </a:rPr>
              <a:t>Collection of Statistics Act, 2007: </a:t>
            </a:r>
            <a:r>
              <a:rPr b="0">
                <a:solidFill>
                  <a:srgbClr val="334155"/>
                </a:solidFill>
              </a:rPr>
              <a:t>Statutory rules and standards ensuring statistical sovereignty, quality, and confidentiality.</a:t>
            </a:r>
          </a:p>
        </p:txBody>
      </p:sp>
      <p:sp>
        <p:nvSpPr>
          <p:cNvPr id="17414" name="Rounded Rectangle 17413"/>
          <p:cNvSpPr/>
          <p:nvPr/>
        </p:nvSpPr>
        <p:spPr>
          <a:xfrm>
            <a:off x="4379976" y="1325880"/>
            <a:ext cx="3429000" cy="48920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5" name="Rectangle 17414"/>
          <p:cNvSpPr/>
          <p:nvPr/>
        </p:nvSpPr>
        <p:spPr>
          <a:xfrm>
            <a:off x="4517136" y="1463040"/>
            <a:ext cx="3154680" cy="36576"/>
          </a:xfrm>
          <a:prstGeom prst="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TextBox 17415"/>
          <p:cNvSpPr txBox="1"/>
          <p:nvPr/>
        </p:nvSpPr>
        <p:spPr>
          <a:xfrm>
            <a:off x="4562856" y="1554480"/>
            <a:ext cx="3063240" cy="4572000"/>
          </a:xfrm>
          <a:prstGeom prst="rect">
            <a:avLst/>
          </a:prstGeom>
          <a:noFill/>
        </p:spPr>
        <p:txBody>
          <a:bodyPr wrap="square" lIns="0" tIns="0" rIns="0" bIns="0">
            <a:spAutoFit/>
          </a:bodyPr>
          <a:lstStyle/>
          <a:p>
            <a:pPr>
              <a:spcAft>
                <a:spcPts val="200"/>
              </a:spcAft>
              <a:defRPr sz="1300" b="1">
                <a:solidFill>
                  <a:srgbClr val="0F172A"/>
                </a:solidFill>
                <a:latin typeface="Arial"/>
              </a:defRPr>
            </a:pPr>
            <a:r>
              <a:t>Academic &amp; Technical Literature</a:t>
            </a:r>
          </a:p>
          <a:p>
            <a:pPr>
              <a:spcAft>
                <a:spcPts val="800"/>
              </a:spcAft>
              <a:defRPr sz="950" b="1">
                <a:solidFill>
                  <a:srgbClr val="107C41"/>
                </a:solidFill>
                <a:latin typeface="Arial"/>
              </a:defRPr>
            </a:pPr>
            <a:r>
              <a:t>RAG &amp; EMBEDDING FOUNDATIONS</a:t>
            </a:r>
          </a:p>
          <a:p>
            <a:pPr>
              <a:spcAft>
                <a:spcPts val="500"/>
              </a:spcAft>
              <a:defRPr sz="1000">
                <a:latin typeface="Arial"/>
              </a:defRPr>
            </a:pPr>
            <a:r>
              <a:rPr b="1">
                <a:solidFill>
                  <a:srgbClr val="107C41"/>
                </a:solidFill>
              </a:rPr>
              <a:t>• </a:t>
            </a:r>
            <a:r>
              <a:rPr b="1">
                <a:solidFill>
                  <a:srgbClr val="0F172A"/>
                </a:solidFill>
              </a:rPr>
              <a:t>Lewis et al. (NeurIPS 2020): </a:t>
            </a:r>
            <a:r>
              <a:rPr b="0">
                <a:solidFill>
                  <a:srgbClr val="334155"/>
                </a:solidFill>
              </a:rPr>
              <a:t>"Retrieval-Augmented Generation for Knowledge-Intensive NLP Tasks" - Theoretical foundation for grounded RAG.</a:t>
            </a:r>
          </a:p>
          <a:p>
            <a:pPr>
              <a:spcAft>
                <a:spcPts val="500"/>
              </a:spcAft>
              <a:defRPr sz="1000">
                <a:latin typeface="Arial"/>
              </a:defRPr>
            </a:pPr>
            <a:r>
              <a:rPr b="1">
                <a:solidFill>
                  <a:srgbClr val="107C41"/>
                </a:solidFill>
              </a:rPr>
              <a:t>• </a:t>
            </a:r>
            <a:r>
              <a:rPr b="1">
                <a:solidFill>
                  <a:srgbClr val="0F172A"/>
                </a:solidFill>
              </a:rPr>
              <a:t>Google DeepMind (2024): </a:t>
            </a:r>
            <a:r>
              <a:rPr b="0">
                <a:solidFill>
                  <a:srgbClr val="334155"/>
                </a:solidFill>
              </a:rPr>
              <a:t>"Gemma 3: Open Models for Responsible On-Device and Sovereign AI" - Foundation for local inference engine.</a:t>
            </a:r>
          </a:p>
          <a:p>
            <a:pPr>
              <a:spcAft>
                <a:spcPts val="500"/>
              </a:spcAft>
              <a:defRPr sz="1000">
                <a:latin typeface="Arial"/>
              </a:defRPr>
            </a:pPr>
            <a:r>
              <a:rPr b="1">
                <a:solidFill>
                  <a:srgbClr val="107C41"/>
                </a:solidFill>
              </a:rPr>
              <a:t>• </a:t>
            </a:r>
            <a:r>
              <a:rPr b="1">
                <a:solidFill>
                  <a:srgbClr val="0F172A"/>
                </a:solidFill>
              </a:rPr>
              <a:t>Nomic AI (2024): </a:t>
            </a:r>
            <a:r>
              <a:rPr b="0">
                <a:solidFill>
                  <a:srgbClr val="334155"/>
                </a:solidFill>
              </a:rPr>
              <a:t>"Nomic Embed: High-Dimensional Contrastive Document Embeddings for Information Retrieval".</a:t>
            </a:r>
          </a:p>
          <a:p>
            <a:pPr>
              <a:spcAft>
                <a:spcPts val="500"/>
              </a:spcAft>
              <a:defRPr sz="1000">
                <a:latin typeface="Arial"/>
              </a:defRPr>
            </a:pPr>
            <a:r>
              <a:rPr b="1">
                <a:solidFill>
                  <a:srgbClr val="107C41"/>
                </a:solidFill>
              </a:rPr>
              <a:t>• </a:t>
            </a:r>
            <a:r>
              <a:rPr b="1">
                <a:solidFill>
                  <a:srgbClr val="0F172A"/>
                </a:solidFill>
              </a:rPr>
              <a:t>Bloom's Revised Taxonomy: </a:t>
            </a:r>
            <a:r>
              <a:rPr b="0">
                <a:solidFill>
                  <a:srgbClr val="334155"/>
                </a:solidFill>
              </a:rPr>
              <a:t>Applied for deterministic pedagogical angle cycling (Definition, Calculation, Exception, Policy, Edge-Case).</a:t>
            </a:r>
          </a:p>
        </p:txBody>
      </p:sp>
      <p:sp>
        <p:nvSpPr>
          <p:cNvPr id="17417" name="Rounded Rectangle 17416"/>
          <p:cNvSpPr/>
          <p:nvPr/>
        </p:nvSpPr>
        <p:spPr>
          <a:xfrm>
            <a:off x="8028431" y="1325880"/>
            <a:ext cx="3429000" cy="48920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Rectangle 17417"/>
          <p:cNvSpPr/>
          <p:nvPr/>
        </p:nvSpPr>
        <p:spPr>
          <a:xfrm>
            <a:off x="8165591" y="1463040"/>
            <a:ext cx="3154680" cy="36576"/>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9" name="TextBox 17418"/>
          <p:cNvSpPr txBox="1"/>
          <p:nvPr/>
        </p:nvSpPr>
        <p:spPr>
          <a:xfrm>
            <a:off x="8211311" y="1554480"/>
            <a:ext cx="3063240" cy="4572000"/>
          </a:xfrm>
          <a:prstGeom prst="rect">
            <a:avLst/>
          </a:prstGeom>
          <a:noFill/>
        </p:spPr>
        <p:txBody>
          <a:bodyPr wrap="square" lIns="0" tIns="0" rIns="0" bIns="0">
            <a:spAutoFit/>
          </a:bodyPr>
          <a:lstStyle/>
          <a:p>
            <a:pPr>
              <a:spcAft>
                <a:spcPts val="200"/>
              </a:spcAft>
              <a:defRPr sz="1300" b="1">
                <a:solidFill>
                  <a:srgbClr val="0F172A"/>
                </a:solidFill>
                <a:latin typeface="Arial"/>
              </a:defRPr>
            </a:pPr>
            <a:r>
              <a:t>Prototype Validation &amp; Metrics</a:t>
            </a:r>
          </a:p>
          <a:p>
            <a:pPr>
              <a:spcAft>
                <a:spcPts val="800"/>
              </a:spcAft>
              <a:defRPr sz="950" b="1">
                <a:solidFill>
                  <a:srgbClr val="0F172A"/>
                </a:solidFill>
                <a:latin typeface="Arial"/>
              </a:defRPr>
            </a:pPr>
            <a:r>
              <a:t>EMPIRICAL VERIFICATION</a:t>
            </a:r>
          </a:p>
          <a:p>
            <a:pPr>
              <a:spcAft>
                <a:spcPts val="500"/>
              </a:spcAft>
              <a:defRPr sz="1000">
                <a:latin typeface="Arial"/>
              </a:defRPr>
            </a:pPr>
            <a:r>
              <a:rPr b="1">
                <a:solidFill>
                  <a:srgbClr val="0F172A"/>
                </a:solidFill>
              </a:rPr>
              <a:t>• </a:t>
            </a:r>
            <a:r>
              <a:rPr b="1">
                <a:solidFill>
                  <a:srgbClr val="0F172A"/>
                </a:solidFill>
              </a:rPr>
              <a:t>Working Production Prototype: </a:t>
            </a:r>
            <a:r>
              <a:rPr b="0">
                <a:solidFill>
                  <a:srgbClr val="334155"/>
                </a:solidFill>
              </a:rPr>
              <a:t>Dual-portal web deployment: Admin Studio (Port 5174), Officer App (Port 3000), FastAPI Core (Port 8000).</a:t>
            </a:r>
          </a:p>
          <a:p>
            <a:pPr>
              <a:spcAft>
                <a:spcPts val="500"/>
              </a:spcAft>
              <a:defRPr sz="1000">
                <a:latin typeface="Arial"/>
              </a:defRPr>
            </a:pPr>
            <a:r>
              <a:rPr b="1">
                <a:solidFill>
                  <a:srgbClr val="0F172A"/>
                </a:solidFill>
              </a:rPr>
              <a:t>• </a:t>
            </a:r>
            <a:r>
              <a:rPr b="1">
                <a:solidFill>
                  <a:srgbClr val="0F172A"/>
                </a:solidFill>
              </a:rPr>
              <a:t>Empirical Test Suite: </a:t>
            </a:r>
            <a:r>
              <a:rPr b="0">
                <a:solidFill>
                  <a:srgbClr val="334155"/>
                </a:solidFill>
              </a:rPr>
              <a:t>41/41 automated Pytest unit and integration tests passing across all services and endpoints.</a:t>
            </a:r>
          </a:p>
          <a:p>
            <a:pPr>
              <a:spcAft>
                <a:spcPts val="500"/>
              </a:spcAft>
              <a:defRPr sz="1000">
                <a:latin typeface="Arial"/>
              </a:defRPr>
            </a:pPr>
            <a:r>
              <a:rPr b="1">
                <a:solidFill>
                  <a:srgbClr val="0F172A"/>
                </a:solidFill>
              </a:rPr>
              <a:t>• </a:t>
            </a:r>
            <a:r>
              <a:rPr b="1">
                <a:solidFill>
                  <a:srgbClr val="0F172A"/>
                </a:solidFill>
              </a:rPr>
              <a:t>Sovereign Practice Isolation: </a:t>
            </a:r>
            <a:r>
              <a:rPr b="0">
                <a:solidFill>
                  <a:srgbClr val="334155"/>
                </a:solidFill>
              </a:rPr>
              <a:t>Strict test verification ensuring practice quiz submissions never dilute official readiness scores.</a:t>
            </a:r>
          </a:p>
          <a:p>
            <a:pPr>
              <a:spcAft>
                <a:spcPts val="500"/>
              </a:spcAft>
              <a:defRPr sz="1000">
                <a:latin typeface="Arial"/>
              </a:defRPr>
            </a:pPr>
            <a:r>
              <a:rPr b="1">
                <a:solidFill>
                  <a:srgbClr val="0F172A"/>
                </a:solidFill>
              </a:rPr>
              <a:t>• </a:t>
            </a:r>
            <a:r>
              <a:rPr b="1">
                <a:solidFill>
                  <a:srgbClr val="0F172A"/>
                </a:solidFill>
              </a:rPr>
              <a:t>53 Verified Course Mappings: </a:t>
            </a:r>
            <a:r>
              <a:rPr b="0">
                <a:solidFill>
                  <a:srgbClr val="334155"/>
                </a:solidFill>
              </a:rPr>
              <a:t>Complete database cross-referencing national competency gaps to accredited NSSTA Karmayogi modules.</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338</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Kishan Pujar</cp:lastModifiedBy>
  <cp:revision>148</cp:revision>
  <dcterms:created xsi:type="dcterms:W3CDTF">2013-12-12T18:46:50Z</dcterms:created>
  <dcterms:modified xsi:type="dcterms:W3CDTF">2026-09-29T09:23:16Z</dcterms:modified>
  <cp:category/>
</cp:coreProperties>
</file>