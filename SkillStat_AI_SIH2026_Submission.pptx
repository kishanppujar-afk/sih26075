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731520"/>
            <a:ext cx="10362895" cy="365760"/>
          </a:xfrm>
          <a:prstGeom prst="rect">
            <a:avLst/>
          </a:prstGeom>
          <a:noFill/>
        </p:spPr>
        <p:txBody>
          <a:bodyPr wrap="none">
            <a:spAutoFit/>
          </a:bodyPr>
          <a:lstStyle/>
          <a:p>
            <a:pPr>
              <a:defRPr sz="1600" b="1">
                <a:solidFill>
                  <a:srgbClr val="E65100"/>
                </a:solidFill>
              </a:defRPr>
            </a:pPr>
            <a:r>
              <a:t>SMART INDIA HACKATHON 2026</a:t>
            </a:r>
          </a:p>
        </p:txBody>
      </p:sp>
      <p:sp>
        <p:nvSpPr>
          <p:cNvPr id="3" name="TextBox 2"/>
          <p:cNvSpPr txBox="1"/>
          <p:nvPr/>
        </p:nvSpPr>
        <p:spPr>
          <a:xfrm>
            <a:off x="914400" y="1188720"/>
            <a:ext cx="10362895" cy="914400"/>
          </a:xfrm>
          <a:prstGeom prst="rect">
            <a:avLst/>
          </a:prstGeom>
          <a:noFill/>
        </p:spPr>
        <p:txBody>
          <a:bodyPr wrap="none">
            <a:spAutoFit/>
          </a:bodyPr>
          <a:lstStyle/>
          <a:p>
            <a:pPr>
              <a:defRPr sz="3800" b="1">
                <a:solidFill>
                  <a:srgbClr val="14140F"/>
                </a:solidFill>
              </a:defRPr>
            </a:pPr>
            <a:r>
              <a:t>SkillStat AI</a:t>
            </a:r>
          </a:p>
          <a:p>
            <a:pPr>
              <a:defRPr sz="1500">
                <a:solidFill>
                  <a:srgbClr val="2A3B47"/>
                </a:solidFill>
              </a:defRPr>
            </a:pPr>
            <a:r>
              <a:t>AI-Enabled Competency Intelligence, Personalized Learning &amp; Sovereign RAG Quiz Engine</a:t>
            </a:r>
          </a:p>
        </p:txBody>
      </p:sp>
      <p:sp>
        <p:nvSpPr>
          <p:cNvPr id="4" name="Rounded Rectangle 3"/>
          <p:cNvSpPr/>
          <p:nvPr/>
        </p:nvSpPr>
        <p:spPr>
          <a:xfrm>
            <a:off x="914400" y="2377440"/>
            <a:ext cx="10362895" cy="3749039"/>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560320"/>
            <a:ext cx="9784080" cy="3383280"/>
          </a:xfrm>
          <a:prstGeom prst="rect">
            <a:avLst/>
          </a:prstGeom>
          <a:noFill/>
        </p:spPr>
        <p:txBody>
          <a:bodyPr wrap="square">
            <a:spAutoFit/>
          </a:bodyPr>
          <a:lstStyle/>
          <a:p>
            <a:pPr>
              <a:spcAft>
                <a:spcPts val="1000"/>
              </a:spcAft>
            </a:pPr>
            <a:r>
              <a:rPr b="1" sz="1400">
                <a:solidFill>
                  <a:srgbClr val="14140F"/>
                </a:solidFill>
              </a:rPr>
              <a:t>Problem Statement ID: </a:t>
            </a:r>
            <a:r>
              <a:rPr sz="1350">
                <a:solidFill>
                  <a:srgbClr val="2A3B47"/>
                </a:solidFill>
              </a:rPr>
              <a:t>26101</a:t>
            </a:r>
          </a:p>
          <a:p>
            <a:pPr>
              <a:spcAft>
                <a:spcPts val="1000"/>
              </a:spcAft>
            </a:pPr>
            <a:r>
              <a:rPr b="1" sz="1300">
                <a:solidFill>
                  <a:srgbClr val="14140F"/>
                </a:solidFill>
              </a:rPr>
              <a:t>Problem Statement Title: </a:t>
            </a:r>
            <a:r>
              <a:rPr sz="1200">
                <a:solidFill>
                  <a:srgbClr val="2A3B47"/>
                </a:solidFill>
              </a:rPr>
              <a:t>Develop an AI enabled learning platform that identifies competency gaps, recommends personalized training through integration with the iGOT Karmayogi ecosystem, and capable of generating Quizzes and Multiple choice questions (MCQs) from uploaded learning materials to strengthen capacity building in India's Official Statistical System.</a:t>
            </a:r>
          </a:p>
          <a:p>
            <a:pPr>
              <a:spcAft>
                <a:spcPts val="1000"/>
              </a:spcAft>
            </a:pPr>
            <a:r>
              <a:rPr b="1" sz="1400">
                <a:solidFill>
                  <a:srgbClr val="14140F"/>
                </a:solidFill>
              </a:rPr>
              <a:t>Target Ministry / Dept: </a:t>
            </a:r>
            <a:r>
              <a:rPr sz="1350">
                <a:solidFill>
                  <a:srgbClr val="2A3B47"/>
                </a:solidFill>
              </a:rPr>
              <a:t>Ministry of Statistics and Programme Implementation (MoSPI) / NSSTA / Mission Karmayogi</a:t>
            </a:r>
          </a:p>
          <a:p>
            <a:pPr>
              <a:spcAft>
                <a:spcPts val="1000"/>
              </a:spcAft>
            </a:pPr>
            <a:r>
              <a:rPr b="1" sz="1400">
                <a:solidFill>
                  <a:srgbClr val="14140F"/>
                </a:solidFill>
              </a:rPr>
              <a:t>Theme &amp; Category: </a:t>
            </a:r>
            <a:r>
              <a:rPr sz="1350">
                <a:solidFill>
                  <a:srgbClr val="2A3B47"/>
                </a:solidFill>
              </a:rPr>
              <a:t>Smart Education / e-Governance  |  Category: Software</a:t>
            </a:r>
          </a:p>
          <a:p>
            <a:pPr>
              <a:spcAft>
                <a:spcPts val="1000"/>
              </a:spcAft>
            </a:pPr>
            <a:r>
              <a:rPr b="1" sz="1400">
                <a:solidFill>
                  <a:srgbClr val="14140F"/>
                </a:solidFill>
              </a:rPr>
              <a:t>Team ID &amp; Name: </a:t>
            </a:r>
            <a:r>
              <a:rPr sz="1350">
                <a:solidFill>
                  <a:srgbClr val="2A3B47"/>
                </a:solidFill>
              </a:rPr>
              <a:t>[Your Team ID]  |  [Your Registered Team Name]</a:t>
            </a: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64748B"/>
                </a:solidFill>
              </a:defRPr>
            </a:pPr>
            <a:r>
              <a:t>@SIH Idea submission - Template  |  Problem Statement ID: 26101  |  Slide 1 of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tIns="0" rIns="0" bIns="0">
            <a:spAutoFit/>
          </a:bodyPr>
          <a:lstStyle/>
          <a:p>
            <a:pPr>
              <a:defRPr sz="1100" b="1">
                <a:solidFill>
                  <a:srgbClr val="E65100"/>
                </a:solidFill>
              </a:defRPr>
            </a:pPr>
            <a:r>
              <a:t>SMART INDIA HACKATHON 2026</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400" b="1">
                <a:solidFill>
                  <a:srgbClr val="14140F"/>
                </a:solidFill>
              </a:defRPr>
            </a:pPr>
            <a:r>
              <a:t>PROPOSED SOLUTION: SkillStat AI Platform</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3328416" cy="48463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3328416" cy="594360"/>
          </a:xfrm>
          <a:prstGeom prst="rect">
            <a:avLst/>
          </a:prstGeom>
          <a:solidFill>
            <a:srgbClr val="2A3B47"/>
          </a:solidFill>
          <a:ln>
            <a:solidFill>
              <a:srgbClr val="2A3B47"/>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150" b="1">
                <a:solidFill>
                  <a:srgbClr val="FFFFFF"/>
                </a:solidFill>
              </a:defRPr>
            </a:pPr>
            <a:r>
              <a:t>Detailed Explanation of Proposed Solution</a:t>
            </a:r>
          </a:p>
        </p:txBody>
      </p:sp>
      <p:sp>
        <p:nvSpPr>
          <p:cNvPr id="7" name="TextBox 6"/>
          <p:cNvSpPr txBox="1"/>
          <p:nvPr/>
        </p:nvSpPr>
        <p:spPr>
          <a:xfrm>
            <a:off x="868680" y="2148840"/>
            <a:ext cx="3054096" cy="4069080"/>
          </a:xfrm>
          <a:prstGeom prst="rect">
            <a:avLst/>
          </a:prstGeom>
          <a:noFill/>
        </p:spPr>
        <p:txBody>
          <a:bodyPr wrap="square">
            <a:spAutoFit/>
          </a:bodyPr>
          <a:lstStyle/>
          <a:p>
            <a:pPr>
              <a:spcAft>
                <a:spcPts val="700"/>
              </a:spcAft>
            </a:pPr>
            <a:r>
              <a:rPr b="1" sz="1050">
                <a:solidFill>
                  <a:srgbClr val="14140F"/>
                </a:solidFill>
              </a:rPr>
              <a:t>• 3-Tier Persona Architecture: </a:t>
            </a:r>
            <a:r>
              <a:rPr sz="1000">
                <a:solidFill>
                  <a:srgbClr val="2A3B47"/>
                </a:solidFill>
              </a:rPr>
              <a:t>Tailored portals for Employee self-discovery (port 3000), Manager cadre oversight, and Admin RAG Studio (port 5174).</a:t>
            </a:r>
          </a:p>
          <a:p>
            <a:pPr>
              <a:spcAft>
                <a:spcPts val="700"/>
              </a:spcAft>
            </a:pPr>
            <a:r>
              <a:rPr b="1" sz="1050">
                <a:solidFill>
                  <a:srgbClr val="14140F"/>
                </a:solidFill>
              </a:rPr>
              <a:t>• 4 Canonical MoSPI Domains: </a:t>
            </a:r>
            <a:r>
              <a:rPr sz="1000">
                <a:solidFill>
                  <a:srgbClr val="2A3B47"/>
                </a:solidFill>
              </a:rPr>
              <a:t>Continuous capability mapping across Statistical, Technical, Digital Governance, and Behavioural competencies.</a:t>
            </a:r>
          </a:p>
          <a:p>
            <a:pPr>
              <a:spcAft>
                <a:spcPts val="700"/>
              </a:spcAft>
            </a:pPr>
            <a:r>
              <a:rPr b="1" sz="1050">
                <a:solidFill>
                  <a:srgbClr val="14140F"/>
                </a:solidFill>
              </a:rPr>
              <a:t>• Zero-Penalty Baseline Discovery: </a:t>
            </a:r>
            <a:r>
              <a:rPr sz="1000">
                <a:solidFill>
                  <a:srgbClr val="2A3B47"/>
                </a:solidFill>
              </a:rPr>
              <a:t>Diagnostic assessments featuring 'I am unsure' options to identify authentic capability baselines without exam anxiety.</a:t>
            </a:r>
          </a:p>
          <a:p>
            <a:pPr>
              <a:spcAft>
                <a:spcPts val="700"/>
              </a:spcAft>
            </a:pPr>
            <a:r>
              <a:rPr b="1" sz="1050">
                <a:solidFill>
                  <a:srgbClr val="14140F"/>
                </a:solidFill>
              </a:rPr>
              <a:t>• Disha AI Statistical Coach: </a:t>
            </a:r>
            <a:r>
              <a:rPr sz="1000">
                <a:solidFill>
                  <a:srgbClr val="2A3B47"/>
                </a:solidFill>
              </a:rPr>
              <a:t>Local Gemma 3 conversational tutor delivering contextual guidance scoped strictly to the officer's identified gaps.</a:t>
            </a:r>
          </a:p>
        </p:txBody>
      </p:sp>
      <p:sp>
        <p:nvSpPr>
          <p:cNvPr id="8" name="Rounded Rectangle 7"/>
          <p:cNvSpPr/>
          <p:nvPr/>
        </p:nvSpPr>
        <p:spPr>
          <a:xfrm>
            <a:off x="4425696" y="1463040"/>
            <a:ext cx="3328416" cy="48463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25696" y="1463040"/>
            <a:ext cx="3328416" cy="594360"/>
          </a:xfrm>
          <a:prstGeom prst="rect">
            <a:avLst/>
          </a:prstGeom>
          <a:solidFill>
            <a:srgbClr val="2A3B47"/>
          </a:solidFill>
          <a:ln>
            <a:solidFill>
              <a:srgbClr val="2A3B47"/>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150" b="1">
                <a:solidFill>
                  <a:srgbClr val="FFFFFF"/>
                </a:solidFill>
              </a:defRPr>
            </a:pPr>
            <a:r>
              <a:t>How It Directly Addresses the Problem</a:t>
            </a:r>
          </a:p>
        </p:txBody>
      </p:sp>
      <p:sp>
        <p:nvSpPr>
          <p:cNvPr id="10" name="TextBox 9"/>
          <p:cNvSpPr txBox="1"/>
          <p:nvPr/>
        </p:nvSpPr>
        <p:spPr>
          <a:xfrm>
            <a:off x="4562856" y="2148840"/>
            <a:ext cx="3054096" cy="4069080"/>
          </a:xfrm>
          <a:prstGeom prst="rect">
            <a:avLst/>
          </a:prstGeom>
          <a:noFill/>
        </p:spPr>
        <p:txBody>
          <a:bodyPr wrap="square">
            <a:spAutoFit/>
          </a:bodyPr>
          <a:lstStyle/>
          <a:p>
            <a:pPr>
              <a:spcAft>
                <a:spcPts val="700"/>
              </a:spcAft>
            </a:pPr>
            <a:r>
              <a:rPr b="1" sz="1050">
                <a:solidFill>
                  <a:srgbClr val="14140F"/>
                </a:solidFill>
              </a:rPr>
              <a:t>• Automates Gap Discovery: </a:t>
            </a:r>
            <a:r>
              <a:rPr sz="1000">
                <a:solidFill>
                  <a:srgbClr val="2A3B47"/>
                </a:solidFill>
              </a:rPr>
              <a:t>Replaces manual training guesswork with mathematical deficit tracking (current vs target benchmarks) across all cadre designations.</a:t>
            </a:r>
          </a:p>
          <a:p>
            <a:pPr>
              <a:spcAft>
                <a:spcPts val="700"/>
              </a:spcAft>
            </a:pPr>
            <a:r>
              <a:rPr b="1" sz="1050">
                <a:solidFill>
                  <a:srgbClr val="14140F"/>
                </a:solidFill>
              </a:rPr>
              <a:t>• Authentic Curriculum Match: </a:t>
            </a:r>
            <a:r>
              <a:rPr sz="1000">
                <a:solidFill>
                  <a:srgbClr val="2A3B47"/>
                </a:solidFill>
              </a:rPr>
              <a:t>Directly maps deficits to 53 verified NSSTA Greater Noida modules with urgency weighting for survey deployments.</a:t>
            </a:r>
          </a:p>
          <a:p>
            <a:pPr>
              <a:spcAft>
                <a:spcPts val="700"/>
              </a:spcAft>
            </a:pPr>
            <a:r>
              <a:rPr b="1" sz="1050">
                <a:solidFill>
                  <a:srgbClr val="14140F"/>
                </a:solidFill>
              </a:rPr>
              <a:t>• iGOT Karmayogi Bridge: </a:t>
            </a:r>
            <a:r>
              <a:rPr sz="1000">
                <a:solidFill>
                  <a:srgbClr val="2A3B47"/>
                </a:solidFill>
              </a:rPr>
              <a:t>Engineered with standardized adapter schemas for direct course catalog synchronization and enrollment webhooks.</a:t>
            </a:r>
          </a:p>
          <a:p>
            <a:pPr>
              <a:spcAft>
                <a:spcPts val="700"/>
              </a:spcAft>
            </a:pPr>
            <a:r>
              <a:rPr b="1" sz="1050">
                <a:solidFill>
                  <a:srgbClr val="14140F"/>
                </a:solidFill>
              </a:rPr>
              <a:t>• Empowers Cadre Supervisors: </a:t>
            </a:r>
            <a:r>
              <a:rPr sz="1000">
                <a:solidFill>
                  <a:srgbClr val="2A3B47"/>
                </a:solidFill>
              </a:rPr>
              <a:t>Provides managers with real-time 4-domain radar charts to evaluate team readiness prior to major national censuses/surveys.</a:t>
            </a:r>
          </a:p>
        </p:txBody>
      </p:sp>
      <p:sp>
        <p:nvSpPr>
          <p:cNvPr id="11" name="Rounded Rectangle 10"/>
          <p:cNvSpPr/>
          <p:nvPr/>
        </p:nvSpPr>
        <p:spPr>
          <a:xfrm>
            <a:off x="8119872" y="1463040"/>
            <a:ext cx="3328416" cy="48463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19872" y="1463040"/>
            <a:ext cx="3328416" cy="594360"/>
          </a:xfrm>
          <a:prstGeom prst="rect">
            <a:avLst/>
          </a:prstGeom>
          <a:solidFill>
            <a:srgbClr val="107C41"/>
          </a:solidFill>
          <a:ln>
            <a:solidFill>
              <a:srgbClr val="107C41"/>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150" b="1">
                <a:solidFill>
                  <a:srgbClr val="FFFFFF"/>
                </a:solidFill>
              </a:defRPr>
            </a:pPr>
            <a:r>
              <a:t>Innovation &amp; Uniqueness of the Solution</a:t>
            </a:r>
          </a:p>
        </p:txBody>
      </p:sp>
      <p:sp>
        <p:nvSpPr>
          <p:cNvPr id="13" name="TextBox 12"/>
          <p:cNvSpPr txBox="1"/>
          <p:nvPr/>
        </p:nvSpPr>
        <p:spPr>
          <a:xfrm>
            <a:off x="8257032" y="2148840"/>
            <a:ext cx="3054096" cy="4069080"/>
          </a:xfrm>
          <a:prstGeom prst="rect">
            <a:avLst/>
          </a:prstGeom>
          <a:noFill/>
        </p:spPr>
        <p:txBody>
          <a:bodyPr wrap="square">
            <a:spAutoFit/>
          </a:bodyPr>
          <a:lstStyle/>
          <a:p>
            <a:pPr>
              <a:spcAft>
                <a:spcPts val="700"/>
              </a:spcAft>
            </a:pPr>
            <a:r>
              <a:rPr b="1" sz="1050">
                <a:solidFill>
                  <a:srgbClr val="14140F"/>
                </a:solidFill>
              </a:rPr>
              <a:t>• 100% Sovereign Local AI: </a:t>
            </a:r>
            <a:r>
              <a:rPr sz="1000">
                <a:solidFill>
                  <a:srgbClr val="2A3B47"/>
                </a:solidFill>
              </a:rPr>
              <a:t>Runs entirely on on-premise infrastructure via Ollama—zero confidential government documentation leaves sovereign custody.</a:t>
            </a:r>
          </a:p>
          <a:p>
            <a:pPr>
              <a:spcAft>
                <a:spcPts val="700"/>
              </a:spcAft>
            </a:pPr>
            <a:r>
              <a:rPr b="1" sz="1050">
                <a:solidFill>
                  <a:srgbClr val="14140F"/>
                </a:solidFill>
              </a:rPr>
              <a:t>• Verifiable Source Snippets: </a:t>
            </a:r>
            <a:r>
              <a:rPr sz="1000">
                <a:solidFill>
                  <a:srgbClr val="2A3B47"/>
                </a:solidFill>
              </a:rPr>
              <a:t>Every generated MCQ is strictly grounded with an exact source citation sentence, completely eliminating hallucination.</a:t>
            </a:r>
          </a:p>
          <a:p>
            <a:pPr>
              <a:spcAft>
                <a:spcPts val="700"/>
              </a:spcAft>
            </a:pPr>
            <a:r>
              <a:rPr b="1" sz="1050">
                <a:solidFill>
                  <a:srgbClr val="14140F"/>
                </a:solidFill>
              </a:rPr>
              <a:t>• Pedagogical Angle Cycling: </a:t>
            </a:r>
            <a:r>
              <a:rPr sz="1000">
                <a:solidFill>
                  <a:srgbClr val="2A3B47"/>
                </a:solidFill>
              </a:rPr>
              <a:t>When documents have fewer chunks than questions, dynamically rotates prompt angles to prevent duplicate outputs.</a:t>
            </a:r>
          </a:p>
          <a:p>
            <a:pPr>
              <a:spcAft>
                <a:spcPts val="700"/>
              </a:spcAft>
            </a:pPr>
            <a:r>
              <a:rPr b="1" sz="1050">
                <a:solidFill>
                  <a:srgbClr val="14140F"/>
                </a:solidFill>
              </a:rPr>
              <a:t>• Isolated Practice Scoring: </a:t>
            </a:r>
            <a:r>
              <a:rPr sz="1000">
                <a:solidFill>
                  <a:srgbClr val="2A3B47"/>
                </a:solidFill>
              </a:rPr>
              <a:t>Practice quizzes NEVER pollute official employee readiness scores, preserving administrative integrity.</a:t>
            </a:r>
          </a:p>
        </p:txBody>
      </p:sp>
      <p:sp>
        <p:nvSpPr>
          <p:cNvPr id="14" name="TextBox 13"/>
          <p:cNvSpPr txBox="1"/>
          <p:nvPr/>
        </p:nvSpPr>
        <p:spPr>
          <a:xfrm>
            <a:off x="731520" y="6446520"/>
            <a:ext cx="10728655" cy="320040"/>
          </a:xfrm>
          <a:prstGeom prst="rect">
            <a:avLst/>
          </a:prstGeom>
          <a:noFill/>
        </p:spPr>
        <p:txBody>
          <a:bodyPr wrap="none" lIns="0" tIns="0" rIns="0" bIns="0">
            <a:spAutoFit/>
          </a:bodyPr>
          <a:lstStyle/>
          <a:p>
            <a:pPr>
              <a:defRPr sz="900">
                <a:solidFill>
                  <a:srgbClr val="64748B"/>
                </a:solidFill>
              </a:defRPr>
            </a:pPr>
            <a:r>
              <a:t>@SIH Idea submission - Template  |  Problem Statement ID: 26101  |  Slide 2 of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tIns="0" rIns="0" bIns="0">
            <a:spAutoFit/>
          </a:bodyPr>
          <a:lstStyle/>
          <a:p>
            <a:pPr>
              <a:defRPr sz="1100" b="1">
                <a:solidFill>
                  <a:srgbClr val="E65100"/>
                </a:solidFill>
              </a:defRPr>
            </a:pPr>
            <a:r>
              <a:t>SMART INDIA HACKATHON 2026</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400" b="1">
                <a:solidFill>
                  <a:srgbClr val="14140F"/>
                </a:solidFill>
              </a:defRPr>
            </a:pPr>
            <a:r>
              <a:t>TECHNICAL APPROACH: Architecture &amp; Implementation Flow</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4114800" cy="48463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3749040" cy="4480560"/>
          </a:xfrm>
          <a:prstGeom prst="rect">
            <a:avLst/>
          </a:prstGeom>
          <a:noFill/>
        </p:spPr>
        <p:txBody>
          <a:bodyPr wrap="square">
            <a:spAutoFit/>
          </a:bodyPr>
          <a:lstStyle/>
          <a:p>
            <a:pPr>
              <a:spcAft>
                <a:spcPts val="1000"/>
              </a:spcAft>
              <a:defRPr sz="1300" b="1">
                <a:solidFill>
                  <a:srgbClr val="2A3B47"/>
                </a:solidFill>
              </a:defRPr>
            </a:pPr>
            <a:r>
              <a:t>TECHNOLOGIES &amp; FRAMEWORKS</a:t>
            </a:r>
          </a:p>
          <a:p>
            <a:pPr>
              <a:spcAft>
                <a:spcPts val="800"/>
              </a:spcAft>
            </a:pPr>
            <a:r>
              <a:rPr b="1" sz="1050">
                <a:solidFill>
                  <a:srgbClr val="14140F"/>
                </a:solidFill>
              </a:rPr>
              <a:t>✔ Frontend Apps (Ports 3000 &amp; 5174): </a:t>
            </a:r>
            <a:r>
              <a:rPr sz="1000">
                <a:solidFill>
                  <a:srgbClr val="2A3B47"/>
                </a:solidFill>
              </a:rPr>
              <a:t>React 18/19, Vite 6, Tailwind CSS, Framer Motion 13, Recharts responsive visualizations.</a:t>
            </a:r>
          </a:p>
          <a:p>
            <a:pPr>
              <a:spcAft>
                <a:spcPts val="800"/>
              </a:spcAft>
            </a:pPr>
            <a:r>
              <a:rPr b="1" sz="1050">
                <a:solidFill>
                  <a:srgbClr val="14140F"/>
                </a:solidFill>
              </a:rPr>
              <a:t>✔ Backend Services (Port 8000): </a:t>
            </a:r>
            <a:r>
              <a:rPr sz="1000">
                <a:solidFill>
                  <a:srgbClr val="2A3B47"/>
                </a:solidFill>
              </a:rPr>
              <a:t>FastAPI (asynchronous micro-framework), SQLAlchemy 2.0 ORM, Pydantic v2 schemas, SQLite.</a:t>
            </a:r>
          </a:p>
          <a:p>
            <a:pPr>
              <a:spcAft>
                <a:spcPts val="800"/>
              </a:spcAft>
            </a:pPr>
            <a:r>
              <a:rPr b="1" sz="1050">
                <a:solidFill>
                  <a:srgbClr val="14140F"/>
                </a:solidFill>
              </a:rPr>
              <a:t>✔ Local AI / LLM Engine (Port 11434): </a:t>
            </a:r>
            <a:r>
              <a:rPr sz="1000">
                <a:solidFill>
                  <a:srgbClr val="2A3B47"/>
                </a:solidFill>
              </a:rPr>
              <a:t>Ollama with gemma3:4b (MCQ generation, Disha AI coaching) and nomic-embed-text (768-dim embeddings).</a:t>
            </a:r>
          </a:p>
          <a:p>
            <a:pPr>
              <a:spcAft>
                <a:spcPts val="800"/>
              </a:spcAft>
            </a:pPr>
            <a:r>
              <a:rPr b="1" sz="1050">
                <a:solidFill>
                  <a:srgbClr val="14140F"/>
                </a:solidFill>
              </a:rPr>
              <a:t>✔ Enterprise Security &amp; RBAC: </a:t>
            </a:r>
            <a:r>
              <a:rPr sz="1000">
                <a:solidFill>
                  <a:srgbClr val="2A3B47"/>
                </a:solidFill>
              </a:rPr>
              <a:t>Bcrypt password hashing, PyJWT Bearer authorization, 3 strict RBAC roles (Admin, Manager, Employee).</a:t>
            </a:r>
          </a:p>
          <a:p>
            <a:pPr>
              <a:spcAft>
                <a:spcPts val="800"/>
              </a:spcAft>
            </a:pPr>
            <a:r>
              <a:rPr b="1" sz="1050">
                <a:solidFill>
                  <a:srgbClr val="14140F"/>
                </a:solidFill>
              </a:rPr>
              <a:t>✔ Verified Test Coverage: </a:t>
            </a:r>
            <a:r>
              <a:rPr sz="1000">
                <a:solidFill>
                  <a:srgbClr val="2A3B47"/>
                </a:solidFill>
              </a:rPr>
              <a:t>41 automated pytest test cases validating mathematical analytics exactness, score isolation, and RAG chunking.</a:t>
            </a:r>
          </a:p>
        </p:txBody>
      </p:sp>
      <p:sp>
        <p:nvSpPr>
          <p:cNvPr id="7" name="Rounded Rectangle 6"/>
          <p:cNvSpPr/>
          <p:nvPr/>
        </p:nvSpPr>
        <p:spPr>
          <a:xfrm>
            <a:off x="5212080" y="1463040"/>
            <a:ext cx="6217920" cy="48463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94960" y="1645920"/>
            <a:ext cx="5852160" cy="4480560"/>
          </a:xfrm>
          <a:prstGeom prst="rect">
            <a:avLst/>
          </a:prstGeom>
          <a:noFill/>
        </p:spPr>
        <p:txBody>
          <a:bodyPr wrap="square">
            <a:spAutoFit/>
          </a:bodyPr>
          <a:lstStyle/>
          <a:p>
            <a:pPr>
              <a:spcAft>
                <a:spcPts val="1000"/>
              </a:spcAft>
              <a:defRPr sz="1300" b="1">
                <a:solidFill>
                  <a:srgbClr val="2A3B47"/>
                </a:solidFill>
              </a:defRPr>
            </a:pPr>
            <a:r>
              <a:t>IMPLEMENTATION PROCESS &amp; WORKFLOW PIPELINE</a:t>
            </a:r>
          </a:p>
          <a:p>
            <a:pPr>
              <a:spcAft>
                <a:spcPts val="700"/>
              </a:spcAft>
            </a:pPr>
            <a:r>
              <a:rPr b="1" sz="1050">
                <a:solidFill>
                  <a:srgbClr val="107C41"/>
                </a:solidFill>
              </a:rPr>
              <a:t>➤ Stage 1: Document Upload &amp; Pre-Processing: </a:t>
            </a:r>
            <a:r>
              <a:rPr sz="1000">
                <a:solidFill>
                  <a:srgbClr val="2A3B47"/>
                </a:solidFill>
              </a:rPr>
              <a:t>Admins upload official PDF/TXT manuals. Text is cleaned, segmented into ~250-word semantic chunks, and embedded into 768-dim vector space.</a:t>
            </a:r>
          </a:p>
          <a:p>
            <a:pPr>
              <a:spcAft>
                <a:spcPts val="700"/>
              </a:spcAft>
            </a:pPr>
            <a:r>
              <a:rPr b="1" sz="1050">
                <a:solidFill>
                  <a:srgbClr val="107C41"/>
                </a:solidFill>
              </a:rPr>
              <a:t>➤ Stage 2: Spread Chunk Selection &amp; Grounded RAG: </a:t>
            </a:r>
            <a:r>
              <a:rPr sz="1000">
                <a:solidFill>
                  <a:srgbClr val="2A3B47"/>
                </a:solidFill>
              </a:rPr>
              <a:t>Evenly samples chunks across document beginning, middle, and end. Prompts send only single chunks to gemma3:4b, enforcing strict source snippet citations.</a:t>
            </a:r>
          </a:p>
          <a:p>
            <a:pPr>
              <a:spcAft>
                <a:spcPts val="700"/>
              </a:spcAft>
            </a:pPr>
            <a:r>
              <a:rPr b="1" sz="1050">
                <a:solidFill>
                  <a:srgbClr val="107C41"/>
                </a:solidFill>
              </a:rPr>
              <a:t>➤ Stage 3: Human-in-the-Loop Review &amp; Publishing: </a:t>
            </a:r>
            <a:r>
              <a:rPr sz="1000">
                <a:solidFill>
                  <a:srgbClr val="2A3B47"/>
                </a:solidFill>
              </a:rPr>
              <a:t>Admins review question text, 4 options, and citations in Quiz Studio. With one click, the quiz is published to the Employee Assessment Hub.</a:t>
            </a:r>
          </a:p>
          <a:p>
            <a:pPr>
              <a:spcAft>
                <a:spcPts val="700"/>
              </a:spcAft>
            </a:pPr>
            <a:r>
              <a:rPr b="1" sz="1050">
                <a:solidFill>
                  <a:srgbClr val="107C41"/>
                </a:solidFill>
              </a:rPr>
              <a:t>➤ Stage 4: Diagnostic Discovery &amp; Score Isolation: </a:t>
            </a:r>
            <a:r>
              <a:rPr sz="1000">
                <a:solidFill>
                  <a:srgbClr val="2A3B47"/>
                </a:solidFill>
              </a:rPr>
              <a:t>Employees take assessments with zero penalty. Scores calculate competency status; practice quizzes NEVER mutate official readiness benchmarks.</a:t>
            </a:r>
          </a:p>
          <a:p>
            <a:pPr>
              <a:spcAft>
                <a:spcPts val="700"/>
              </a:spcAft>
            </a:pPr>
            <a:r>
              <a:rPr b="1" sz="1050">
                <a:solidFill>
                  <a:srgbClr val="107C41"/>
                </a:solidFill>
              </a:rPr>
              <a:t>➤ Stage 5: Cadre Telemetry &amp; Automated Recommendations: </a:t>
            </a:r>
            <a:r>
              <a:rPr sz="1000">
                <a:solidFill>
                  <a:srgbClr val="2A3B47"/>
                </a:solidFill>
              </a:rPr>
              <a:t>System correlates deficits with 53 NSSTA courses and staged iGOT webhooks, displaying macro telemetry to Ministry leadership.</a:t>
            </a:r>
          </a:p>
        </p:txBody>
      </p:sp>
      <p:sp>
        <p:nvSpPr>
          <p:cNvPr id="9" name="TextBox 8"/>
          <p:cNvSpPr txBox="1"/>
          <p:nvPr/>
        </p:nvSpPr>
        <p:spPr>
          <a:xfrm>
            <a:off x="731520" y="6446520"/>
            <a:ext cx="10728655" cy="320040"/>
          </a:xfrm>
          <a:prstGeom prst="rect">
            <a:avLst/>
          </a:prstGeom>
          <a:noFill/>
        </p:spPr>
        <p:txBody>
          <a:bodyPr wrap="none" lIns="0" tIns="0" rIns="0" bIns="0">
            <a:spAutoFit/>
          </a:bodyPr>
          <a:lstStyle/>
          <a:p>
            <a:pPr>
              <a:defRPr sz="900">
                <a:solidFill>
                  <a:srgbClr val="64748B"/>
                </a:solidFill>
              </a:defRPr>
            </a:pPr>
            <a:r>
              <a:t>@SIH Idea submission - Template  |  Problem Statement ID: 26101  |  Slide 3 of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tIns="0" rIns="0" bIns="0">
            <a:spAutoFit/>
          </a:bodyPr>
          <a:lstStyle/>
          <a:p>
            <a:pPr>
              <a:defRPr sz="1100" b="1">
                <a:solidFill>
                  <a:srgbClr val="E65100"/>
                </a:solidFill>
              </a:defRPr>
            </a:pPr>
            <a:r>
              <a:t>SMART INDIA HACKATHON 2026</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400" b="1">
                <a:solidFill>
                  <a:srgbClr val="14140F"/>
                </a:solidFill>
              </a:defRPr>
            </a:pPr>
            <a:r>
              <a:t>FEASIBILITY AND VIABILITY: Operational Readiness &amp; Risk Mitigation</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3328416" cy="48463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3328416" cy="594360"/>
          </a:xfrm>
          <a:prstGeom prst="rect">
            <a:avLst/>
          </a:prstGeom>
          <a:solidFill>
            <a:srgbClr val="2A3B47"/>
          </a:solidFill>
          <a:ln>
            <a:solidFill>
              <a:srgbClr val="2A3B47"/>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100" b="1">
                <a:solidFill>
                  <a:srgbClr val="FFFFFF"/>
                </a:solidFill>
              </a:defRPr>
            </a:pPr>
            <a:r>
              <a:t>Feasibility &amp; Operational Viability</a:t>
            </a:r>
          </a:p>
        </p:txBody>
      </p:sp>
      <p:sp>
        <p:nvSpPr>
          <p:cNvPr id="7" name="TextBox 6"/>
          <p:cNvSpPr txBox="1"/>
          <p:nvPr/>
        </p:nvSpPr>
        <p:spPr>
          <a:xfrm>
            <a:off x="868680" y="2148840"/>
            <a:ext cx="3054096" cy="4069080"/>
          </a:xfrm>
          <a:prstGeom prst="rect">
            <a:avLst/>
          </a:prstGeom>
          <a:noFill/>
        </p:spPr>
        <p:txBody>
          <a:bodyPr wrap="square">
            <a:spAutoFit/>
          </a:bodyPr>
          <a:lstStyle/>
          <a:p>
            <a:pPr>
              <a:spcAft>
                <a:spcPts val="700"/>
              </a:spcAft>
            </a:pPr>
            <a:r>
              <a:rPr b="1" sz="1050">
                <a:solidFill>
                  <a:srgbClr val="14140F"/>
                </a:solidFill>
              </a:rPr>
              <a:t>• Working Prototype Ready: </a:t>
            </a:r>
            <a:r>
              <a:rPr sz="1000">
                <a:solidFill>
                  <a:srgbClr val="2A3B47"/>
                </a:solidFill>
              </a:rPr>
              <a:t>Fully functional, working live demo running 4 microservices across ports 8000, 3000, 5174, and 11434.</a:t>
            </a:r>
          </a:p>
          <a:p>
            <a:pPr>
              <a:spcAft>
                <a:spcPts val="700"/>
              </a:spcAft>
            </a:pPr>
            <a:r>
              <a:rPr b="1" sz="1050">
                <a:solidFill>
                  <a:srgbClr val="14140F"/>
                </a:solidFill>
              </a:rPr>
              <a:t>• Real Seeded Cadre Data: </a:t>
            </a:r>
            <a:r>
              <a:rPr sz="1000">
                <a:solidFill>
                  <a:srgbClr val="2A3B47"/>
                </a:solidFill>
              </a:rPr>
              <a:t>Pre-populated with 12 authentic accounts, 27 MoSPI statistical skills, 53 NSSTA courses, and real assessment records.</a:t>
            </a:r>
          </a:p>
          <a:p>
            <a:pPr>
              <a:spcAft>
                <a:spcPts val="700"/>
              </a:spcAft>
            </a:pPr>
            <a:r>
              <a:rPr b="1" sz="1050">
                <a:solidFill>
                  <a:srgbClr val="14140F"/>
                </a:solidFill>
              </a:rPr>
              <a:t>• Low Hardware Overhead: </a:t>
            </a:r>
            <a:r>
              <a:rPr sz="1000">
                <a:solidFill>
                  <a:srgbClr val="2A3B47"/>
                </a:solidFill>
              </a:rPr>
              <a:t>Runs efficiently on commodity government workstations and local servers (CPU or standard entry-level GPU).</a:t>
            </a:r>
          </a:p>
          <a:p>
            <a:pPr>
              <a:spcAft>
                <a:spcPts val="700"/>
              </a:spcAft>
            </a:pPr>
            <a:r>
              <a:rPr b="1" sz="1050">
                <a:solidFill>
                  <a:srgbClr val="14140F"/>
                </a:solidFill>
              </a:rPr>
              <a:t>• Non-Disruptive Adoption: </a:t>
            </a:r>
            <a:r>
              <a:rPr sz="1000">
                <a:solidFill>
                  <a:srgbClr val="2A3B47"/>
                </a:solidFill>
              </a:rPr>
              <a:t>Seamlessly layers over existing administrative cadre structures without requiring database overhauls.</a:t>
            </a:r>
          </a:p>
        </p:txBody>
      </p:sp>
      <p:sp>
        <p:nvSpPr>
          <p:cNvPr id="8" name="Rounded Rectangle 7"/>
          <p:cNvSpPr/>
          <p:nvPr/>
        </p:nvSpPr>
        <p:spPr>
          <a:xfrm>
            <a:off x="4425696" y="1463040"/>
            <a:ext cx="3328416" cy="48463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25696" y="1463040"/>
            <a:ext cx="3328416" cy="594360"/>
          </a:xfrm>
          <a:prstGeom prst="rect">
            <a:avLst/>
          </a:prstGeom>
          <a:solidFill>
            <a:srgbClr val="2A3B47"/>
          </a:solidFill>
          <a:ln>
            <a:solidFill>
              <a:srgbClr val="2A3B47"/>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100" b="1">
                <a:solidFill>
                  <a:srgbClr val="FFFFFF"/>
                </a:solidFill>
              </a:defRPr>
            </a:pPr>
            <a:r>
              <a:t>Potential Challenges &amp; Technical Risks</a:t>
            </a:r>
          </a:p>
        </p:txBody>
      </p:sp>
      <p:sp>
        <p:nvSpPr>
          <p:cNvPr id="10" name="TextBox 9"/>
          <p:cNvSpPr txBox="1"/>
          <p:nvPr/>
        </p:nvSpPr>
        <p:spPr>
          <a:xfrm>
            <a:off x="4562856" y="2148840"/>
            <a:ext cx="3054096" cy="4069080"/>
          </a:xfrm>
          <a:prstGeom prst="rect">
            <a:avLst/>
          </a:prstGeom>
          <a:noFill/>
        </p:spPr>
        <p:txBody>
          <a:bodyPr wrap="square">
            <a:spAutoFit/>
          </a:bodyPr>
          <a:lstStyle/>
          <a:p>
            <a:pPr>
              <a:spcAft>
                <a:spcPts val="700"/>
              </a:spcAft>
            </a:pPr>
            <a:r>
              <a:rPr b="1" sz="1050">
                <a:solidFill>
                  <a:srgbClr val="14140F"/>
                </a:solidFill>
              </a:rPr>
              <a:t>• LLM Hallucination Risk: </a:t>
            </a:r>
            <a:r>
              <a:rPr sz="1000">
                <a:solidFill>
                  <a:srgbClr val="2A3B47"/>
                </a:solidFill>
              </a:rPr>
              <a:t>Standard generative models often invent plausible-sounding but erroneous statistical formulas or policy rules.</a:t>
            </a:r>
          </a:p>
          <a:p>
            <a:pPr>
              <a:spcAft>
                <a:spcPts val="700"/>
              </a:spcAft>
            </a:pPr>
            <a:r>
              <a:rPr b="1" sz="1050">
                <a:solidFill>
                  <a:srgbClr val="14140F"/>
                </a:solidFill>
              </a:rPr>
              <a:t>• Data Privacy &amp; Sovereignty: </a:t>
            </a:r>
            <a:r>
              <a:rPr sz="1000">
                <a:solidFill>
                  <a:srgbClr val="2A3B47"/>
                </a:solidFill>
              </a:rPr>
              <a:t>Uploading official government manuals or preliminary survey instructions to cloud APIs violates data sovereignty.</a:t>
            </a:r>
          </a:p>
          <a:p>
            <a:pPr>
              <a:spcAft>
                <a:spcPts val="700"/>
              </a:spcAft>
            </a:pPr>
            <a:r>
              <a:rPr b="1" sz="1050">
                <a:solidFill>
                  <a:srgbClr val="14140F"/>
                </a:solidFill>
              </a:rPr>
              <a:t>• Score Contamination Risk: </a:t>
            </a:r>
            <a:r>
              <a:rPr sz="1000">
                <a:solidFill>
                  <a:srgbClr val="2A3B47"/>
                </a:solidFill>
              </a:rPr>
              <a:t>Practice quizzes and self-study quizzes could corrupt official cadre promotion and readiness scores.</a:t>
            </a:r>
          </a:p>
          <a:p>
            <a:pPr>
              <a:spcAft>
                <a:spcPts val="700"/>
              </a:spcAft>
            </a:pPr>
            <a:r>
              <a:rPr b="1" sz="1050">
                <a:solidFill>
                  <a:srgbClr val="14140F"/>
                </a:solidFill>
              </a:rPr>
              <a:t>• System Latency on Long Documents: </a:t>
            </a:r>
            <a:r>
              <a:rPr sz="1000">
                <a:solidFill>
                  <a:srgbClr val="2A3B47"/>
                </a:solidFill>
              </a:rPr>
              <a:t>Processing large PDF statistical manuals could slow down responsiveness during training cycles.</a:t>
            </a:r>
          </a:p>
        </p:txBody>
      </p:sp>
      <p:sp>
        <p:nvSpPr>
          <p:cNvPr id="11" name="Rounded Rectangle 10"/>
          <p:cNvSpPr/>
          <p:nvPr/>
        </p:nvSpPr>
        <p:spPr>
          <a:xfrm>
            <a:off x="8119872" y="1463040"/>
            <a:ext cx="3328416" cy="48463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19872" y="1463040"/>
            <a:ext cx="3328416" cy="594360"/>
          </a:xfrm>
          <a:prstGeom prst="rect">
            <a:avLst/>
          </a:prstGeom>
          <a:solidFill>
            <a:srgbClr val="107C41"/>
          </a:solidFill>
          <a:ln>
            <a:solidFill>
              <a:srgbClr val="107C41"/>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100" b="1">
                <a:solidFill>
                  <a:srgbClr val="FFFFFF"/>
                </a:solidFill>
              </a:defRPr>
            </a:pPr>
            <a:r>
              <a:t>Proactive Mitigation Strategies</a:t>
            </a:r>
          </a:p>
        </p:txBody>
      </p:sp>
      <p:sp>
        <p:nvSpPr>
          <p:cNvPr id="13" name="TextBox 12"/>
          <p:cNvSpPr txBox="1"/>
          <p:nvPr/>
        </p:nvSpPr>
        <p:spPr>
          <a:xfrm>
            <a:off x="8257032" y="2148840"/>
            <a:ext cx="3054096" cy="4069080"/>
          </a:xfrm>
          <a:prstGeom prst="rect">
            <a:avLst/>
          </a:prstGeom>
          <a:noFill/>
        </p:spPr>
        <p:txBody>
          <a:bodyPr wrap="square">
            <a:spAutoFit/>
          </a:bodyPr>
          <a:lstStyle/>
          <a:p>
            <a:pPr>
              <a:spcAft>
                <a:spcPts val="700"/>
              </a:spcAft>
            </a:pPr>
            <a:r>
              <a:rPr b="1" sz="1050">
                <a:solidFill>
                  <a:srgbClr val="14140F"/>
                </a:solidFill>
              </a:rPr>
              <a:t>• Single-Chunk Grounding: </a:t>
            </a:r>
            <a:r>
              <a:rPr sz="1000">
                <a:solidFill>
                  <a:srgbClr val="2A3B47"/>
                </a:solidFill>
              </a:rPr>
              <a:t>Prompts isolate ~250-word snippets and mandate exact source sentence citations, backed by deterministic fallback.</a:t>
            </a:r>
          </a:p>
          <a:p>
            <a:pPr>
              <a:spcAft>
                <a:spcPts val="700"/>
              </a:spcAft>
            </a:pPr>
            <a:r>
              <a:rPr b="1" sz="1050">
                <a:solidFill>
                  <a:srgbClr val="14140F"/>
                </a:solidFill>
              </a:rPr>
              <a:t>• 100% On-Premise Ollama Engine: </a:t>
            </a:r>
            <a:r>
              <a:rPr sz="1000">
                <a:solidFill>
                  <a:srgbClr val="2A3B47"/>
                </a:solidFill>
              </a:rPr>
              <a:t>Zero bytes leave the ministry premises. Full cryptographic security with bcrypt and JWT Bearer tokens.</a:t>
            </a:r>
          </a:p>
          <a:p>
            <a:pPr>
              <a:spcAft>
                <a:spcPts val="700"/>
              </a:spcAft>
            </a:pPr>
            <a:r>
              <a:rPr b="1" sz="1050">
                <a:solidFill>
                  <a:srgbClr val="14140F"/>
                </a:solidFill>
              </a:rPr>
              <a:t>• Strict Schema Score Isolation: </a:t>
            </a:r>
            <a:r>
              <a:rPr sz="1000">
                <a:solidFill>
                  <a:srgbClr val="2A3B47"/>
                </a:solidFill>
              </a:rPr>
              <a:t>is_practice flag in the assessment engine permanently guards employee skill baselines from practice attempts.</a:t>
            </a:r>
          </a:p>
          <a:p>
            <a:pPr>
              <a:spcAft>
                <a:spcPts val="700"/>
              </a:spcAft>
            </a:pPr>
            <a:r>
              <a:rPr b="1" sz="1050">
                <a:solidFill>
                  <a:srgbClr val="14140F"/>
                </a:solidFill>
              </a:rPr>
              <a:t>• Background Vector Chunking: </a:t>
            </a:r>
            <a:r>
              <a:rPr sz="1000">
                <a:solidFill>
                  <a:srgbClr val="2A3B47"/>
                </a:solidFill>
              </a:rPr>
              <a:t>Instant asynchronous processing stores pre-computed vector embeddings in SQLite for millisecond retrieval.</a:t>
            </a:r>
          </a:p>
        </p:txBody>
      </p:sp>
      <p:sp>
        <p:nvSpPr>
          <p:cNvPr id="14" name="TextBox 13"/>
          <p:cNvSpPr txBox="1"/>
          <p:nvPr/>
        </p:nvSpPr>
        <p:spPr>
          <a:xfrm>
            <a:off x="731520" y="6446520"/>
            <a:ext cx="10728655" cy="320040"/>
          </a:xfrm>
          <a:prstGeom prst="rect">
            <a:avLst/>
          </a:prstGeom>
          <a:noFill/>
        </p:spPr>
        <p:txBody>
          <a:bodyPr wrap="none" lIns="0" tIns="0" rIns="0" bIns="0">
            <a:spAutoFit/>
          </a:bodyPr>
          <a:lstStyle/>
          <a:p>
            <a:pPr>
              <a:defRPr sz="900">
                <a:solidFill>
                  <a:srgbClr val="64748B"/>
                </a:solidFill>
              </a:defRPr>
            </a:pPr>
            <a:r>
              <a:t>@SIH Idea submission - Template  |  Problem Statement ID: 26101  |  Slide 4 of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tIns="0" rIns="0" bIns="0">
            <a:spAutoFit/>
          </a:bodyPr>
          <a:lstStyle/>
          <a:p>
            <a:pPr>
              <a:defRPr sz="1100" b="1">
                <a:solidFill>
                  <a:srgbClr val="E65100"/>
                </a:solidFill>
              </a:defRPr>
            </a:pPr>
            <a:r>
              <a:t>SMART INDIA HACKATHON 2026</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400" b="1">
                <a:solidFill>
                  <a:srgbClr val="14140F"/>
                </a:solidFill>
              </a:defRPr>
            </a:pPr>
            <a:r>
              <a:t>IMPACT AND BENEFITS: Empowering India's Statistical Ecosystem</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23317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5120640" cy="438912"/>
          </a:xfrm>
          <a:prstGeom prst="rect">
            <a:avLst/>
          </a:prstGeom>
          <a:solidFill>
            <a:srgbClr val="2A3B47"/>
          </a:solidFill>
          <a:ln>
            <a:solidFill>
              <a:srgbClr val="2A3B47"/>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150" b="1">
                <a:solidFill>
                  <a:srgbClr val="FFFFFF"/>
                </a:solidFill>
              </a:defRPr>
            </a:pPr>
            <a:r>
              <a:t>Impact on Statistical Officers (Field Cadre)</a:t>
            </a:r>
          </a:p>
        </p:txBody>
      </p:sp>
      <p:sp>
        <p:nvSpPr>
          <p:cNvPr id="7" name="TextBox 6"/>
          <p:cNvSpPr txBox="1"/>
          <p:nvPr/>
        </p:nvSpPr>
        <p:spPr>
          <a:xfrm>
            <a:off x="868680" y="1965960"/>
            <a:ext cx="4846320" cy="1783080"/>
          </a:xfrm>
          <a:prstGeom prst="rect">
            <a:avLst/>
          </a:prstGeom>
          <a:noFill/>
        </p:spPr>
        <p:txBody>
          <a:bodyPr wrap="square">
            <a:spAutoFit/>
          </a:bodyPr>
          <a:lstStyle/>
          <a:p>
            <a:pPr>
              <a:spcAft>
                <a:spcPts val="400"/>
              </a:spcAft>
            </a:pPr>
            <a:r>
              <a:rPr b="1" sz="1000">
                <a:solidFill>
                  <a:srgbClr val="14140F"/>
                </a:solidFill>
              </a:rPr>
              <a:t>✔ Personalized Career Mobility: </a:t>
            </a:r>
            <a:r>
              <a:rPr sz="950">
                <a:solidFill>
                  <a:srgbClr val="2A3B47"/>
                </a:solidFill>
              </a:rPr>
              <a:t>Officers see transparent readiness scores and targeted learning roadmaps, eliminating career stagnancy.</a:t>
            </a:r>
          </a:p>
          <a:p>
            <a:pPr>
              <a:spcAft>
                <a:spcPts val="400"/>
              </a:spcAft>
            </a:pPr>
            <a:r>
              <a:rPr b="1" sz="1000">
                <a:solidFill>
                  <a:srgbClr val="14140F"/>
                </a:solidFill>
              </a:rPr>
              <a:t>✔ Zero-Anxiety Learning: </a:t>
            </a:r>
            <a:r>
              <a:rPr sz="950">
                <a:solidFill>
                  <a:srgbClr val="2A3B47"/>
                </a:solidFill>
              </a:rPr>
              <a:t>Diagnostic baselines encourage honesty without fear of negative performance reviews.</a:t>
            </a:r>
          </a:p>
          <a:p>
            <a:pPr>
              <a:spcAft>
                <a:spcPts val="400"/>
              </a:spcAft>
            </a:pPr>
            <a:r>
              <a:rPr b="1" sz="1000">
                <a:solidFill>
                  <a:srgbClr val="14140F"/>
                </a:solidFill>
              </a:rPr>
              <a:t>✔ 24/7 Contextual Coaching: </a:t>
            </a:r>
            <a:r>
              <a:rPr sz="950">
                <a:solidFill>
                  <a:srgbClr val="2A3B47"/>
                </a:solidFill>
              </a:rPr>
              <a:t>Disha AI provides instant pedagogical explanations of difficult statistical methodology concepts.</a:t>
            </a:r>
          </a:p>
        </p:txBody>
      </p:sp>
      <p:sp>
        <p:nvSpPr>
          <p:cNvPr id="8" name="Rounded Rectangle 7"/>
          <p:cNvSpPr/>
          <p:nvPr/>
        </p:nvSpPr>
        <p:spPr>
          <a:xfrm>
            <a:off x="6336792" y="1463040"/>
            <a:ext cx="5120640" cy="23317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36792" y="1463040"/>
            <a:ext cx="5120640" cy="438912"/>
          </a:xfrm>
          <a:prstGeom prst="rect">
            <a:avLst/>
          </a:prstGeom>
          <a:solidFill>
            <a:srgbClr val="2A3B47"/>
          </a:solidFill>
          <a:ln>
            <a:solidFill>
              <a:srgbClr val="2A3B47"/>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150" b="1">
                <a:solidFill>
                  <a:srgbClr val="FFFFFF"/>
                </a:solidFill>
              </a:defRPr>
            </a:pPr>
            <a:r>
              <a:t>Impact on Supervisory Managers</a:t>
            </a:r>
          </a:p>
        </p:txBody>
      </p:sp>
      <p:sp>
        <p:nvSpPr>
          <p:cNvPr id="10" name="TextBox 9"/>
          <p:cNvSpPr txBox="1"/>
          <p:nvPr/>
        </p:nvSpPr>
        <p:spPr>
          <a:xfrm>
            <a:off x="6473952" y="1965960"/>
            <a:ext cx="4846320" cy="1783080"/>
          </a:xfrm>
          <a:prstGeom prst="rect">
            <a:avLst/>
          </a:prstGeom>
          <a:noFill/>
        </p:spPr>
        <p:txBody>
          <a:bodyPr wrap="square">
            <a:spAutoFit/>
          </a:bodyPr>
          <a:lstStyle/>
          <a:p>
            <a:pPr>
              <a:spcAft>
                <a:spcPts val="400"/>
              </a:spcAft>
            </a:pPr>
            <a:r>
              <a:rPr b="1" sz="1000">
                <a:solidFill>
                  <a:srgbClr val="14140F"/>
                </a:solidFill>
              </a:rPr>
              <a:t>✔ Cadre Radar Intelligence: </a:t>
            </a:r>
            <a:r>
              <a:rPr sz="950">
                <a:solidFill>
                  <a:srgbClr val="2A3B47"/>
                </a:solidFill>
              </a:rPr>
              <a:t>Managers visualize department capability gaps across 4 domains before deploying survey teams.</a:t>
            </a:r>
          </a:p>
          <a:p>
            <a:pPr>
              <a:spcAft>
                <a:spcPts val="400"/>
              </a:spcAft>
            </a:pPr>
            <a:r>
              <a:rPr b="1" sz="1000">
                <a:solidFill>
                  <a:srgbClr val="14140F"/>
                </a:solidFill>
              </a:rPr>
              <a:t>✔ Targeted Training Allocations: </a:t>
            </a:r>
            <a:r>
              <a:rPr sz="950">
                <a:solidFill>
                  <a:srgbClr val="2A3B47"/>
                </a:solidFill>
              </a:rPr>
              <a:t>Directs officers to specific NSSTA modules based on measured empirical deficiencies.</a:t>
            </a:r>
          </a:p>
          <a:p>
            <a:pPr>
              <a:spcAft>
                <a:spcPts val="400"/>
              </a:spcAft>
            </a:pPr>
            <a:r>
              <a:rPr b="1" sz="1000">
                <a:solidFill>
                  <a:srgbClr val="14140F"/>
                </a:solidFill>
              </a:rPr>
              <a:t>✔ Data-Driven Deployment: </a:t>
            </a:r>
            <a:r>
              <a:rPr sz="950">
                <a:solidFill>
                  <a:srgbClr val="2A3B47"/>
                </a:solidFill>
              </a:rPr>
              <a:t>Ensures complex economic indices (CPI, IIP, PLFS) are led by fully qualified statistical personnel.</a:t>
            </a:r>
          </a:p>
        </p:txBody>
      </p:sp>
      <p:sp>
        <p:nvSpPr>
          <p:cNvPr id="11" name="Rounded Rectangle 10"/>
          <p:cNvSpPr/>
          <p:nvPr/>
        </p:nvSpPr>
        <p:spPr>
          <a:xfrm>
            <a:off x="731520" y="3931920"/>
            <a:ext cx="5120640" cy="23317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931920"/>
            <a:ext cx="5120640" cy="438912"/>
          </a:xfrm>
          <a:prstGeom prst="rect">
            <a:avLst/>
          </a:prstGeom>
          <a:solidFill>
            <a:srgbClr val="107C41"/>
          </a:solidFill>
          <a:ln>
            <a:solidFill>
              <a:srgbClr val="107C41"/>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150" b="1">
                <a:solidFill>
                  <a:srgbClr val="FFFFFF"/>
                </a:solidFill>
              </a:defRPr>
            </a:pPr>
            <a:r>
              <a:t>Economic &amp; Institutional Benefits</a:t>
            </a:r>
          </a:p>
        </p:txBody>
      </p:sp>
      <p:sp>
        <p:nvSpPr>
          <p:cNvPr id="13" name="TextBox 12"/>
          <p:cNvSpPr txBox="1"/>
          <p:nvPr/>
        </p:nvSpPr>
        <p:spPr>
          <a:xfrm>
            <a:off x="868680" y="4434840"/>
            <a:ext cx="4846320" cy="1783080"/>
          </a:xfrm>
          <a:prstGeom prst="rect">
            <a:avLst/>
          </a:prstGeom>
          <a:noFill/>
        </p:spPr>
        <p:txBody>
          <a:bodyPr wrap="square">
            <a:spAutoFit/>
          </a:bodyPr>
          <a:lstStyle/>
          <a:p>
            <a:pPr>
              <a:spcAft>
                <a:spcPts val="400"/>
              </a:spcAft>
            </a:pPr>
            <a:r>
              <a:rPr b="1" sz="1000">
                <a:solidFill>
                  <a:srgbClr val="14140F"/>
                </a:solidFill>
              </a:rPr>
              <a:t>✔ 80% Time Reduction in Quiz Creation: </a:t>
            </a:r>
            <a:r>
              <a:rPr sz="950">
                <a:solidFill>
                  <a:srgbClr val="2A3B47"/>
                </a:solidFill>
              </a:rPr>
              <a:t>Automates turning 100-page training manuals into quizzes from days of manual drafting to 30 seconds.</a:t>
            </a:r>
          </a:p>
          <a:p>
            <a:pPr>
              <a:spcAft>
                <a:spcPts val="400"/>
              </a:spcAft>
            </a:pPr>
            <a:r>
              <a:rPr b="1" sz="1000">
                <a:solidFill>
                  <a:srgbClr val="14140F"/>
                </a:solidFill>
              </a:rPr>
              <a:t>✔ Elimination of Redundant Training: </a:t>
            </a:r>
            <a:r>
              <a:rPr sz="950">
                <a:solidFill>
                  <a:srgbClr val="2A3B47"/>
                </a:solidFill>
              </a:rPr>
              <a:t>Targeted learning recommendations prevent wasting ministry budget on generic unneeded courses.</a:t>
            </a:r>
          </a:p>
          <a:p>
            <a:pPr>
              <a:spcAft>
                <a:spcPts val="400"/>
              </a:spcAft>
            </a:pPr>
            <a:r>
              <a:rPr b="1" sz="1000">
                <a:solidFill>
                  <a:srgbClr val="14140F"/>
                </a:solidFill>
              </a:rPr>
              <a:t>✔ Enhanced Data Integrity: </a:t>
            </a:r>
            <a:r>
              <a:rPr sz="950">
                <a:solidFill>
                  <a:srgbClr val="2A3B47"/>
                </a:solidFill>
              </a:rPr>
              <a:t>Directly improves the accuracy and timeliness of national macroeconomic statistics (GDP, Inflation).</a:t>
            </a:r>
          </a:p>
        </p:txBody>
      </p:sp>
      <p:sp>
        <p:nvSpPr>
          <p:cNvPr id="14" name="Rounded Rectangle 13"/>
          <p:cNvSpPr/>
          <p:nvPr/>
        </p:nvSpPr>
        <p:spPr>
          <a:xfrm>
            <a:off x="6336792" y="3931920"/>
            <a:ext cx="5120640" cy="23317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36792" y="3931920"/>
            <a:ext cx="5120640" cy="438912"/>
          </a:xfrm>
          <a:prstGeom prst="rect">
            <a:avLst/>
          </a:prstGeom>
          <a:solidFill>
            <a:srgbClr val="107C41"/>
          </a:solidFill>
          <a:ln>
            <a:solidFill>
              <a:srgbClr val="107C41"/>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150" b="1">
                <a:solidFill>
                  <a:srgbClr val="FFFFFF"/>
                </a:solidFill>
              </a:defRPr>
            </a:pPr>
            <a:r>
              <a:t>Social, Governance &amp; Alignment Benefits</a:t>
            </a:r>
          </a:p>
        </p:txBody>
      </p:sp>
      <p:sp>
        <p:nvSpPr>
          <p:cNvPr id="16" name="TextBox 15"/>
          <p:cNvSpPr txBox="1"/>
          <p:nvPr/>
        </p:nvSpPr>
        <p:spPr>
          <a:xfrm>
            <a:off x="6473952" y="4434840"/>
            <a:ext cx="4846320" cy="1783080"/>
          </a:xfrm>
          <a:prstGeom prst="rect">
            <a:avLst/>
          </a:prstGeom>
          <a:noFill/>
        </p:spPr>
        <p:txBody>
          <a:bodyPr wrap="square">
            <a:spAutoFit/>
          </a:bodyPr>
          <a:lstStyle/>
          <a:p>
            <a:pPr>
              <a:spcAft>
                <a:spcPts val="400"/>
              </a:spcAft>
            </a:pPr>
            <a:r>
              <a:rPr b="1" sz="1000">
                <a:solidFill>
                  <a:srgbClr val="14140F"/>
                </a:solidFill>
              </a:rPr>
              <a:t>✔ Mission Karmayogi Alignment: </a:t>
            </a:r>
            <a:r>
              <a:rPr sz="950">
                <a:solidFill>
                  <a:srgbClr val="2A3B47"/>
                </a:solidFill>
              </a:rPr>
              <a:t>Transforms civil service capacity building from rule-based to role-based continuous development.</a:t>
            </a:r>
          </a:p>
          <a:p>
            <a:pPr>
              <a:spcAft>
                <a:spcPts val="400"/>
              </a:spcAft>
            </a:pPr>
            <a:r>
              <a:rPr b="1" sz="1000">
                <a:solidFill>
                  <a:srgbClr val="14140F"/>
                </a:solidFill>
              </a:rPr>
              <a:t>✔ National Scalability: </a:t>
            </a:r>
            <a:r>
              <a:rPr sz="950">
                <a:solidFill>
                  <a:srgbClr val="2A3B47"/>
                </a:solidFill>
              </a:rPr>
              <a:t>Readily extensible across state directorates of economics and statistics (DES) and line ministries.</a:t>
            </a:r>
          </a:p>
          <a:p>
            <a:pPr>
              <a:spcAft>
                <a:spcPts val="400"/>
              </a:spcAft>
            </a:pPr>
            <a:r>
              <a:rPr b="1" sz="1000">
                <a:solidFill>
                  <a:srgbClr val="14140F"/>
                </a:solidFill>
              </a:rPr>
              <a:t>✔ Sovereign Digital Infrastructure: </a:t>
            </a:r>
            <a:r>
              <a:rPr sz="950">
                <a:solidFill>
                  <a:srgbClr val="2A3B47"/>
                </a:solidFill>
              </a:rPr>
              <a:t>Preserves total digital sovereignty with 100% locally hosted open-source AI models.</a:t>
            </a:r>
          </a:p>
        </p:txBody>
      </p:sp>
      <p:sp>
        <p:nvSpPr>
          <p:cNvPr id="17" name="TextBox 16"/>
          <p:cNvSpPr txBox="1"/>
          <p:nvPr/>
        </p:nvSpPr>
        <p:spPr>
          <a:xfrm>
            <a:off x="731520" y="6446520"/>
            <a:ext cx="10728655" cy="320040"/>
          </a:xfrm>
          <a:prstGeom prst="rect">
            <a:avLst/>
          </a:prstGeom>
          <a:noFill/>
        </p:spPr>
        <p:txBody>
          <a:bodyPr wrap="none" lIns="0" tIns="0" rIns="0" bIns="0">
            <a:spAutoFit/>
          </a:bodyPr>
          <a:lstStyle/>
          <a:p>
            <a:pPr>
              <a:defRPr sz="900">
                <a:solidFill>
                  <a:srgbClr val="64748B"/>
                </a:solidFill>
              </a:defRPr>
            </a:pPr>
            <a:r>
              <a:t>@SIH Idea submission - Template  |  Problem Statement ID: 26101  |  Slide 5 of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tIns="0" rIns="0" bIns="0">
            <a:spAutoFit/>
          </a:bodyPr>
          <a:lstStyle/>
          <a:p>
            <a:pPr>
              <a:defRPr sz="1100" b="1">
                <a:solidFill>
                  <a:srgbClr val="E65100"/>
                </a:solidFill>
              </a:defRPr>
            </a:pPr>
            <a:r>
              <a:t>SMART INDIA HACKATHON 2026</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400" b="1">
                <a:solidFill>
                  <a:srgbClr val="14140F"/>
                </a:solidFill>
              </a:defRPr>
            </a:pPr>
            <a:r>
              <a:t>RESEARCH AND REFERENCES: Institutional Alignment &amp; Documentation</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48463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480560"/>
          </a:xfrm>
          <a:prstGeom prst="rect">
            <a:avLst/>
          </a:prstGeom>
          <a:noFill/>
        </p:spPr>
        <p:txBody>
          <a:bodyPr wrap="square">
            <a:spAutoFit/>
          </a:bodyPr>
          <a:lstStyle/>
          <a:p>
            <a:pPr>
              <a:spcAft>
                <a:spcPts val="1000"/>
              </a:spcAft>
              <a:defRPr sz="1200" b="1">
                <a:solidFill>
                  <a:srgbClr val="2A3B47"/>
                </a:solidFill>
              </a:defRPr>
            </a:pPr>
            <a:r>
              <a:t>OFFICIAL GOVERNMENT FRAMEWORKS &amp; DATA SOURCES</a:t>
            </a:r>
          </a:p>
          <a:p>
            <a:pPr>
              <a:spcAft>
                <a:spcPts val="800"/>
              </a:spcAft>
            </a:pPr>
            <a:r>
              <a:rPr b="1" sz="1000">
                <a:solidFill>
                  <a:srgbClr val="14140F"/>
                </a:solidFill>
              </a:rPr>
              <a:t>• Ministry of Statistics &amp; Programme Implementation (MoSPI): </a:t>
            </a:r>
            <a:r>
              <a:rPr sz="950">
                <a:solidFill>
                  <a:srgbClr val="2A3B47"/>
                </a:solidFill>
              </a:rPr>
              <a:t>Official Indian Statistical Service (ISS) Cadre Management Rules, Survey Methodologies (PLFS, CPI, ASI) (mospi.gov.in).</a:t>
            </a:r>
          </a:p>
          <a:p>
            <a:pPr>
              <a:spcAft>
                <a:spcPts val="800"/>
              </a:spcAft>
            </a:pPr>
            <a:r>
              <a:rPr b="1" sz="1000">
                <a:solidFill>
                  <a:srgbClr val="14140F"/>
                </a:solidFill>
              </a:rPr>
              <a:t>• NSSTA Greater Noida Training Academy: </a:t>
            </a:r>
            <a:r>
              <a:rPr sz="950">
                <a:solidFill>
                  <a:srgbClr val="2A3B47"/>
                </a:solidFill>
              </a:rPr>
              <a:t>Annual Training Calendar &amp; TPAC Programme Curriculum (53 distinct courses integrated into SkillStat catalog).</a:t>
            </a:r>
          </a:p>
          <a:p>
            <a:pPr>
              <a:spcAft>
                <a:spcPts val="800"/>
              </a:spcAft>
            </a:pPr>
            <a:r>
              <a:rPr b="1" sz="1000">
                <a:solidFill>
                  <a:srgbClr val="14140F"/>
                </a:solidFill>
              </a:rPr>
              <a:t>• Mission Karmayogi (NPCSCB): </a:t>
            </a:r>
            <a:r>
              <a:rPr sz="950">
                <a:solidFill>
                  <a:srgbClr val="2A3B47"/>
                </a:solidFill>
              </a:rPr>
              <a:t>Competency Dictionary for Civil Services (FRAC Framework) - Transforming civil service training from rule-based to role-based.</a:t>
            </a:r>
          </a:p>
          <a:p>
            <a:pPr>
              <a:spcAft>
                <a:spcPts val="800"/>
              </a:spcAft>
            </a:pPr>
            <a:r>
              <a:rPr b="1" sz="1000">
                <a:solidFill>
                  <a:srgbClr val="14140F"/>
                </a:solidFill>
              </a:rPr>
              <a:t>• iGOT Karmayogi Bharat Platform: </a:t>
            </a:r>
            <a:r>
              <a:rPr sz="950">
                <a:solidFill>
                  <a:srgbClr val="2A3B47"/>
                </a:solidFill>
              </a:rPr>
              <a:t>Integration standards, competency modeling guidelines, and digital learning taxonomy (igotkarmayogi.gov.in).</a:t>
            </a:r>
          </a:p>
          <a:p>
            <a:pPr>
              <a:spcAft>
                <a:spcPts val="800"/>
              </a:spcAft>
            </a:pPr>
            <a:r>
              <a:rPr b="1" sz="1000">
                <a:solidFill>
                  <a:srgbClr val="14140F"/>
                </a:solidFill>
              </a:rPr>
              <a:t>• National Statistical Commission (NSC): </a:t>
            </a:r>
            <a:r>
              <a:rPr sz="950">
                <a:solidFill>
                  <a:srgbClr val="2A3B47"/>
                </a:solidFill>
              </a:rPr>
              <a:t>Recommendations on quality assurance, audit protocols, and statistical enumerator capacity building.</a:t>
            </a:r>
          </a:p>
        </p:txBody>
      </p:sp>
      <p:sp>
        <p:nvSpPr>
          <p:cNvPr id="7" name="Rounded Rectangle 6"/>
          <p:cNvSpPr/>
          <p:nvPr/>
        </p:nvSpPr>
        <p:spPr>
          <a:xfrm>
            <a:off x="6339535" y="1463040"/>
            <a:ext cx="5120640" cy="48463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22415" y="1645920"/>
            <a:ext cx="4754880" cy="4480560"/>
          </a:xfrm>
          <a:prstGeom prst="rect">
            <a:avLst/>
          </a:prstGeom>
          <a:noFill/>
        </p:spPr>
        <p:txBody>
          <a:bodyPr wrap="square">
            <a:spAutoFit/>
          </a:bodyPr>
          <a:lstStyle/>
          <a:p>
            <a:pPr>
              <a:spcAft>
                <a:spcPts val="1000"/>
              </a:spcAft>
              <a:defRPr sz="1200" b="1">
                <a:solidFill>
                  <a:srgbClr val="107C41"/>
                </a:solidFill>
              </a:defRPr>
            </a:pPr>
            <a:r>
              <a:t>TECHNICAL RESEARCH &amp; REPOSITORY ASSETS</a:t>
            </a:r>
          </a:p>
          <a:p>
            <a:pPr>
              <a:spcAft>
                <a:spcPts val="800"/>
              </a:spcAft>
            </a:pPr>
            <a:r>
              <a:rPr b="1" sz="1000">
                <a:solidFill>
                  <a:srgbClr val="14140F"/>
                </a:solidFill>
              </a:rPr>
              <a:t>✔ Retrieval-Augmented Generation (RAG): </a:t>
            </a:r>
            <a:r>
              <a:rPr sz="950">
                <a:solidFill>
                  <a:srgbClr val="2A3B47"/>
                </a:solidFill>
              </a:rPr>
              <a:t>Lewis et al., 'Retrieval-Augmented Generation for Knowledge-Intensive NLP Tasks' (NeurIPS). Single-chunk grounding methodology.</a:t>
            </a:r>
          </a:p>
          <a:p>
            <a:pPr>
              <a:spcAft>
                <a:spcPts val="800"/>
              </a:spcAft>
            </a:pPr>
            <a:r>
              <a:rPr b="1" sz="1000">
                <a:solidFill>
                  <a:srgbClr val="14140F"/>
                </a:solidFill>
              </a:rPr>
              <a:t>✔ Nomic Embed Text (768-dim Embeddings): </a:t>
            </a:r>
            <a:r>
              <a:rPr sz="950">
                <a:solidFill>
                  <a:srgbClr val="2A3B47"/>
                </a:solidFill>
              </a:rPr>
              <a:t>Nussbaum et al., 'Nomic Embed: Training High-Context Open-Access Text Encoders' (Ollama sovereign runtime).</a:t>
            </a:r>
          </a:p>
          <a:p>
            <a:pPr>
              <a:spcAft>
                <a:spcPts val="800"/>
              </a:spcAft>
            </a:pPr>
            <a:r>
              <a:rPr b="1" sz="1000">
                <a:solidFill>
                  <a:srgbClr val="14140F"/>
                </a:solidFill>
              </a:rPr>
              <a:t>✔ Gemma 3 Open Foundation Model: </a:t>
            </a:r>
            <a:r>
              <a:rPr sz="950">
                <a:solidFill>
                  <a:srgbClr val="2A3B47"/>
                </a:solidFill>
              </a:rPr>
              <a:t>Google DeepMind, lightweight instruction-tuned architecture running fully offline on local workstation hardware.</a:t>
            </a:r>
          </a:p>
          <a:p>
            <a:pPr>
              <a:spcAft>
                <a:spcPts val="800"/>
              </a:spcAft>
            </a:pPr>
            <a:r>
              <a:rPr b="1" sz="1000">
                <a:solidFill>
                  <a:srgbClr val="14140F"/>
                </a:solidFill>
              </a:rPr>
              <a:t>✔ Working Project Codebase &amp; Test Suite: </a:t>
            </a:r>
            <a:r>
              <a:rPr sz="950">
                <a:solidFill>
                  <a:srgbClr val="2A3B47"/>
                </a:solidFill>
              </a:rPr>
              <a:t>Complete repository containing 47 endpoints, 20 SQLite models, 41 passing automated tests, and 2 React frontends.</a:t>
            </a:r>
          </a:p>
          <a:p>
            <a:pPr>
              <a:spcAft>
                <a:spcPts val="800"/>
              </a:spcAft>
            </a:pPr>
            <a:r>
              <a:rPr b="1" sz="1000">
                <a:solidFill>
                  <a:srgbClr val="14140F"/>
                </a:solidFill>
              </a:rPr>
              <a:t>✔ End-to-End Live Demonstrator: </a:t>
            </a:r>
            <a:r>
              <a:rPr sz="950">
                <a:solidFill>
                  <a:srgbClr val="2A3B47"/>
                </a:solidFill>
              </a:rPr>
              <a:t>Fully operational across Ports 8000 (FastAPI), 3000 (Employee), and 5174 (Manager/Admin).</a:t>
            </a:r>
          </a:p>
        </p:txBody>
      </p:sp>
      <p:sp>
        <p:nvSpPr>
          <p:cNvPr id="9" name="TextBox 8"/>
          <p:cNvSpPr txBox="1"/>
          <p:nvPr/>
        </p:nvSpPr>
        <p:spPr>
          <a:xfrm>
            <a:off x="731520" y="6446520"/>
            <a:ext cx="10728655" cy="320040"/>
          </a:xfrm>
          <a:prstGeom prst="rect">
            <a:avLst/>
          </a:prstGeom>
          <a:noFill/>
        </p:spPr>
        <p:txBody>
          <a:bodyPr wrap="none" lIns="0" tIns="0" rIns="0" bIns="0">
            <a:spAutoFit/>
          </a:bodyPr>
          <a:lstStyle/>
          <a:p>
            <a:pPr>
              <a:defRPr sz="900">
                <a:solidFill>
                  <a:srgbClr val="64748B"/>
                </a:solidFill>
              </a:defRPr>
            </a:pPr>
            <a:r>
              <a:t>@SIH Idea submission - Template  |  Problem Statement ID: 26101  |  Slide 6 of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